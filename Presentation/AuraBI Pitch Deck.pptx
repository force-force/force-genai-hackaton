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9"/>
  </p:notesMasterIdLst>
  <p:sldIdLst>
    <p:sldId id="269" r:id="rId2"/>
    <p:sldId id="265" r:id="rId3"/>
    <p:sldId id="266" r:id="rId4"/>
    <p:sldId id="258" r:id="rId5"/>
    <p:sldId id="259" r:id="rId6"/>
    <p:sldId id="260" r:id="rId7"/>
    <p:sldId id="279" r:id="rId8"/>
    <p:sldId id="281" r:id="rId9"/>
    <p:sldId id="280" r:id="rId10"/>
    <p:sldId id="277" r:id="rId11"/>
    <p:sldId id="278" r:id="rId12"/>
    <p:sldId id="262" r:id="rId13"/>
    <p:sldId id="261" r:id="rId14"/>
    <p:sldId id="263" r:id="rId15"/>
    <p:sldId id="271" r:id="rId16"/>
    <p:sldId id="270" r:id="rId17"/>
    <p:sldId id="268" r:id="rId18"/>
  </p:sldIdLst>
  <p:sldSz cx="12192000" cy="6858000"/>
  <p:notesSz cx="6858000" cy="9144000"/>
  <p:embeddedFontLst>
    <p:embeddedFont>
      <p:font typeface="Coco Gothic" panose="02000506000000020004" pitchFamily="2" charset="0"/>
      <p:regular r:id="rId20"/>
      <p:bold r:id="rId21"/>
      <p:italic r:id="rId22"/>
      <p:boldItalic r:id="rId23"/>
    </p:embeddedFont>
    <p:embeddedFont>
      <p:font typeface="Pluckypot Free" pitchFamily="2" charset="0"/>
      <p:regular r:id="rId24"/>
    </p:embeddedFont>
    <p:embeddedFont>
      <p:font typeface="Plus Jakarta Sans" pitchFamily="2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3B"/>
    <a:srgbClr val="657068"/>
    <a:srgbClr val="FDFFFC"/>
    <a:srgbClr val="EA580C"/>
    <a:srgbClr val="1E5D31"/>
    <a:srgbClr val="0A0A0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5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9CDF2-30D5-4685-95FA-DC63E054A2A8}" type="datetimeFigureOut">
              <a:rPr lang="fr-CM" smtClean="0"/>
              <a:t>26/10/2026</a:t>
            </a:fld>
            <a:endParaRPr lang="fr-C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7D945-0C0D-40CB-BF3F-CDA90F40198D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0222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393A7BFF-E7B9-C86B-5A54-17572B08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>
            <a:extLst>
              <a:ext uri="{FF2B5EF4-FFF2-40B4-BE49-F238E27FC236}">
                <a16:creationId xmlns:a16="http://schemas.microsoft.com/office/drawing/2014/main" id="{DA91EC66-A785-3370-159F-FD25078153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>
            <a:extLst>
              <a:ext uri="{FF2B5EF4-FFF2-40B4-BE49-F238E27FC236}">
                <a16:creationId xmlns:a16="http://schemas.microsoft.com/office/drawing/2014/main" id="{F7229271-69C0-22FD-F3E3-D60F06882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4661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jpeg"/><Relationship Id="rId12" Type="http://schemas.microsoft.com/office/2007/relationships/hdphoto" Target="../media/hdphoto4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11" Type="http://schemas.openxmlformats.org/officeDocument/2006/relationships/image" Target="../media/image33.png"/><Relationship Id="rId5" Type="http://schemas.openxmlformats.org/officeDocument/2006/relationships/image" Target="../media/image2.png"/><Relationship Id="rId10" Type="http://schemas.openxmlformats.org/officeDocument/2006/relationships/image" Target="../media/image32.jpe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jpeg"/><Relationship Id="rId12" Type="http://schemas.microsoft.com/office/2007/relationships/hdphoto" Target="../media/hdphoto4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11" Type="http://schemas.openxmlformats.org/officeDocument/2006/relationships/image" Target="../media/image33.png"/><Relationship Id="rId5" Type="http://schemas.openxmlformats.org/officeDocument/2006/relationships/image" Target="../media/image2.png"/><Relationship Id="rId10" Type="http://schemas.openxmlformats.org/officeDocument/2006/relationships/image" Target="../media/image32.jpe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778061" y="3577784"/>
            <a:ext cx="26358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1E5D31"/>
                </a:solidFill>
                <a:latin typeface="Plus Jakarta Sans" pitchFamily="2" charset="0"/>
                <a:ea typeface="Inter Black"/>
                <a:cs typeface="Plus Jakarta Sans" pitchFamily="2" charset="0"/>
                <a:sym typeface="Inter Black"/>
              </a:rPr>
              <a:t>Aura</a:t>
            </a:r>
            <a:r>
              <a:rPr lang="en-US" sz="6000" b="1" i="0" u="none" strike="noStrike" cap="none" dirty="0" err="1">
                <a:solidFill>
                  <a:srgbClr val="D66F14"/>
                </a:solidFill>
                <a:latin typeface="Plus Jakarta Sans" pitchFamily="2" charset="0"/>
                <a:ea typeface="Inter Black"/>
                <a:cs typeface="Plus Jakarta Sans" pitchFamily="2" charset="0"/>
                <a:sym typeface="Inter Black"/>
              </a:rPr>
              <a:t>BI</a:t>
            </a:r>
            <a:endParaRPr b="1" dirty="0">
              <a:solidFill>
                <a:srgbClr val="D66F14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EC920-952C-4A3D-9644-2BD433B807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02128" y="1498087"/>
            <a:ext cx="2400947" cy="20564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FD41EB-A73B-225F-C696-83CA003B64E0}"/>
              </a:ext>
            </a:extLst>
          </p:cNvPr>
          <p:cNvSpPr txBox="1"/>
          <p:nvPr/>
        </p:nvSpPr>
        <p:spPr>
          <a:xfrm>
            <a:off x="3649519" y="4524395"/>
            <a:ext cx="48929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dirty="0">
                <a:solidFill>
                  <a:srgbClr val="064E3B"/>
                </a:solidFill>
                <a:latin typeface="Plus Jakarta Sans"/>
              </a:rPr>
              <a:t>Ask in plain words.</a:t>
            </a:r>
            <a:r>
              <a:rPr lang="en-US" sz="800" b="1" i="0" u="none" dirty="0">
                <a:solidFill>
                  <a:srgbClr val="064E3B"/>
                </a:solidFill>
                <a:latin typeface="Plus Jakarta Sans"/>
              </a:rPr>
              <a:t> </a:t>
            </a:r>
            <a:r>
              <a:rPr lang="en-US" sz="2000" b="1" i="0" u="none" dirty="0">
                <a:solidFill>
                  <a:srgbClr val="064E3B"/>
                </a:solidFill>
                <a:latin typeface="Plus Jakarta Sans"/>
              </a:rPr>
              <a:t>See the </a:t>
            </a:r>
            <a:r>
              <a:rPr lang="en-US" sz="2000" b="1" i="0" u="none" dirty="0">
                <a:solidFill>
                  <a:srgbClr val="EA580C"/>
                </a:solidFill>
                <a:latin typeface="Plus Jakarta Sans"/>
              </a:rPr>
              <a:t>evidence.</a:t>
            </a:r>
            <a:endParaRPr lang="fr-CM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446123-3289-C196-E4DE-0285AA7C9E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0295" y1="30000" x2="40295" y2="30000"/>
                        <a14:foregroundMark x1="43671" y1="41250" x2="43671" y2="41250"/>
                        <a14:foregroundMark x1="48734" y1="48750" x2="48734" y2="48750"/>
                        <a14:foregroundMark x1="50633" y1="40000" x2="50633" y2="40000"/>
                        <a14:foregroundMark x1="55485" y1="40000" x2="55485" y2="40000"/>
                        <a14:foregroundMark x1="61814" y1="38750" x2="61814" y2="38750"/>
                        <a14:foregroundMark x1="63924" y1="57500" x2="63924" y2="57500"/>
                        <a14:foregroundMark x1="73840" y1="45000" x2="73840" y2="45000"/>
                        <a14:foregroundMark x1="79747" y1="50000" x2="79747" y2="50000"/>
                        <a14:foregroundMark x1="81224" y1="40000" x2="81224" y2="40000"/>
                        <a14:foregroundMark x1="83544" y1="40000" x2="83544" y2="40000"/>
                        <a14:foregroundMark x1="88819" y1="45000" x2="88819" y2="45000"/>
                        <a14:foregroundMark x1="39662" y1="42500" x2="39662" y2="42500"/>
                        <a14:backgroundMark x1="44937" y1="42500" x2="44937" y2="42500"/>
                      </a14:backgroundRemoval>
                    </a14:imgEffect>
                  </a14:imgLayer>
                </a14:imgProps>
              </a:ext>
            </a:extLst>
          </a:blip>
          <a:srcRect l="34835" t="5977" r="5685" b="26498"/>
          <a:stretch>
            <a:fillRect/>
          </a:stretch>
        </p:blipFill>
        <p:spPr>
          <a:xfrm>
            <a:off x="5057897" y="5502296"/>
            <a:ext cx="2076206" cy="39780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5875317-9E21-14BD-9C48-362CD33ED328}"/>
              </a:ext>
            </a:extLst>
          </p:cNvPr>
          <p:cNvGrpSpPr/>
          <p:nvPr/>
        </p:nvGrpSpPr>
        <p:grpSpPr>
          <a:xfrm>
            <a:off x="3534923" y="5103626"/>
            <a:ext cx="5170903" cy="381000"/>
            <a:chOff x="3933228" y="5314492"/>
            <a:chExt cx="5170903" cy="381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5AC5699-B096-5C8A-2815-F4EB653A07FF}"/>
                </a:ext>
              </a:extLst>
            </p:cNvPr>
            <p:cNvGrpSpPr/>
            <p:nvPr/>
          </p:nvGrpSpPr>
          <p:grpSpPr>
            <a:xfrm>
              <a:off x="3933228" y="5347899"/>
              <a:ext cx="3475453" cy="259065"/>
              <a:chOff x="3435748" y="5673554"/>
              <a:chExt cx="5336754" cy="39780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3BDEAE4-A753-F3EA-9F43-97A3E8BFE1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35748" y="5673554"/>
                <a:ext cx="1662904" cy="397809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B3072B8-3B26-33AC-8E5F-43633E4AE4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48297" y="5710439"/>
                <a:ext cx="1662904" cy="310586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FD36D51F-C278-85B4-234E-ACBBD671E7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4248" t="33645" r="4073" b="42387"/>
              <a:stretch>
                <a:fillRect/>
              </a:stretch>
            </p:blipFill>
            <p:spPr>
              <a:xfrm>
                <a:off x="7066042" y="5718570"/>
                <a:ext cx="1706460" cy="315518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BC288F8-5AEB-86FB-2E35-3BA122977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408681" y="5314492"/>
              <a:ext cx="1695450" cy="3810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4;p13" descr="image.png">
            <a:extLst>
              <a:ext uri="{FF2B5EF4-FFF2-40B4-BE49-F238E27FC236}">
                <a16:creationId xmlns:a16="http://schemas.microsoft.com/office/drawing/2014/main" id="{5BDF4C1D-6D59-177C-41F1-8F150B226396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609600" y="2044154"/>
            <a:ext cx="518160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3900" y="2101304"/>
            <a:ext cx="5048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58504"/>
            <a:ext cx="2535951" cy="8463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sz="6000" b="1" i="0" u="none" dirty="0">
                <a:solidFill>
                  <a:srgbClr val="064E3B"/>
                </a:solidFill>
                <a:latin typeface="Plus Jakarta Sans"/>
              </a:rPr>
              <a:t>443,524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625304"/>
            <a:ext cx="2389500" cy="3793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SMEs in Cameroon</a:t>
            </a:r>
          </a:p>
        </p:txBody>
      </p:sp>
      <p:pic>
        <p:nvPicPr>
          <p:cNvPr id="11" name="Google Shape;85;p13" descr="image.png">
            <a:extLst>
              <a:ext uri="{FF2B5EF4-FFF2-40B4-BE49-F238E27FC236}">
                <a16:creationId xmlns:a16="http://schemas.microsoft.com/office/drawing/2014/main" id="{F7530BF1-9B46-FC08-5FDA-7A169E6BA33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09600" y="4173884"/>
            <a:ext cx="4667250" cy="1079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dirty="0">
                <a:solidFill>
                  <a:srgbClr val="657068"/>
                </a:solidFill>
                <a:latin typeface="Plus Jakarta Sans"/>
              </a:rPr>
              <a:t>Most navigate in the dark. Growing businesses have one data person doing the job of five.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800" y="2130360"/>
            <a:ext cx="5181600" cy="25972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84;p13" descr="image.png">
            <a:extLst>
              <a:ext uri="{FF2B5EF4-FFF2-40B4-BE49-F238E27FC236}">
                <a16:creationId xmlns:a16="http://schemas.microsoft.com/office/drawing/2014/main" id="{7E9990E3-587A-2E18-152F-DF04CD303255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762000" y="1635472"/>
            <a:ext cx="5743575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300" y="1692622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149822"/>
            <a:ext cx="5302927" cy="551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 dirty="0">
                <a:solidFill>
                  <a:srgbClr val="064E3B"/>
                </a:solidFill>
                <a:latin typeface="Plus Jakarta Sans"/>
              </a:rPr>
              <a:t>Answers require specialists.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A093C38-86F4-90D4-4881-49F208EBD596}"/>
              </a:ext>
            </a:extLst>
          </p:cNvPr>
          <p:cNvGrpSpPr/>
          <p:nvPr/>
        </p:nvGrpSpPr>
        <p:grpSpPr>
          <a:xfrm>
            <a:off x="762000" y="3308002"/>
            <a:ext cx="3781425" cy="1914525"/>
            <a:chOff x="762000" y="3308002"/>
            <a:chExt cx="3781425" cy="1914525"/>
          </a:xfrm>
        </p:grpSpPr>
        <p:sp>
          <p:nvSpPr>
            <p:cNvPr id="3" name="Rounded Rectangle 2"/>
            <p:cNvSpPr/>
            <p:nvPr/>
          </p:nvSpPr>
          <p:spPr>
            <a:xfrm>
              <a:off x="762000" y="3308002"/>
              <a:ext cx="3352800" cy="1914525"/>
            </a:xfrm>
            <a:prstGeom prst="roundRect">
              <a:avLst>
                <a:gd name="adj" fmla="val 6254"/>
              </a:avLst>
            </a:prstGeom>
            <a:solidFill>
              <a:srgbClr val="FDFF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3EE4052-7840-BA07-2903-71018A67F72C}"/>
                </a:ext>
              </a:extLst>
            </p:cNvPr>
            <p:cNvGrpSpPr/>
            <p:nvPr/>
          </p:nvGrpSpPr>
          <p:grpSpPr>
            <a:xfrm>
              <a:off x="1143000" y="3689002"/>
              <a:ext cx="3400425" cy="1152525"/>
              <a:chOff x="1143000" y="3689002"/>
              <a:chExt cx="3400425" cy="1152525"/>
            </a:xfrm>
          </p:grpSpPr>
          <p:pic>
            <p:nvPicPr>
              <p:cNvPr id="6" name="Picture 5" descr="image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3000" y="3689002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1143000" y="4222402"/>
                <a:ext cx="3400425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800" b="1" i="0" u="none" dirty="0">
                    <a:solidFill>
                      <a:srgbClr val="0F172A"/>
                    </a:solidFill>
                    <a:latin typeface="Plus Jakarta Sans"/>
                  </a:rPr>
                  <a:t>Siloed Systems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143000" y="4622452"/>
                <a:ext cx="3238500" cy="21907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50" b="0" i="0" u="none">
                    <a:solidFill>
                      <a:srgbClr val="475569"/>
                    </a:solidFill>
                    <a:latin typeface="Plus Jakarta Sans"/>
                  </a:rPr>
                  <a:t>Data spread across platforms.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03A4102-E184-2851-8D8C-5C1C2FEF2A7B}"/>
              </a:ext>
            </a:extLst>
          </p:cNvPr>
          <p:cNvGrpSpPr/>
          <p:nvPr/>
        </p:nvGrpSpPr>
        <p:grpSpPr>
          <a:xfrm>
            <a:off x="4419600" y="3308002"/>
            <a:ext cx="3781425" cy="1914525"/>
            <a:chOff x="4419600" y="3308002"/>
            <a:chExt cx="3781425" cy="1914525"/>
          </a:xfrm>
        </p:grpSpPr>
        <p:sp>
          <p:nvSpPr>
            <p:cNvPr id="4" name="Rounded Rectangle 3"/>
            <p:cNvSpPr/>
            <p:nvPr/>
          </p:nvSpPr>
          <p:spPr>
            <a:xfrm>
              <a:off x="4419600" y="3308002"/>
              <a:ext cx="3352800" cy="1914525"/>
            </a:xfrm>
            <a:prstGeom prst="roundRect">
              <a:avLst>
                <a:gd name="adj" fmla="val 7960"/>
              </a:avLst>
            </a:prstGeom>
            <a:solidFill>
              <a:srgbClr val="FDFF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90CDC1A-F89D-D9CD-89C6-1011B56A760F}"/>
                </a:ext>
              </a:extLst>
            </p:cNvPr>
            <p:cNvGrpSpPr/>
            <p:nvPr/>
          </p:nvGrpSpPr>
          <p:grpSpPr>
            <a:xfrm>
              <a:off x="4800600" y="3689002"/>
              <a:ext cx="3400425" cy="1152525"/>
              <a:chOff x="4800600" y="3689002"/>
              <a:chExt cx="3400425" cy="1152525"/>
            </a:xfrm>
          </p:grpSpPr>
          <p:pic>
            <p:nvPicPr>
              <p:cNvPr id="7" name="Picture 6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0600" y="3689002"/>
                <a:ext cx="266700" cy="304800"/>
              </a:xfrm>
              <a:prstGeom prst="rect">
                <a:avLst/>
              </a:prstGeom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4800600" y="4222402"/>
                <a:ext cx="3400425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800" b="1" i="0" u="none" dirty="0">
                    <a:solidFill>
                      <a:srgbClr val="0F172A"/>
                    </a:solidFill>
                    <a:latin typeface="Plus Jakarta Sans"/>
                  </a:rPr>
                  <a:t>Lengthy Pipelines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800600" y="4622452"/>
                <a:ext cx="3238500" cy="21907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Days of specialist work.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87C679D-422F-F27F-5AF5-BF3AE964DA28}"/>
              </a:ext>
            </a:extLst>
          </p:cNvPr>
          <p:cNvGrpSpPr/>
          <p:nvPr/>
        </p:nvGrpSpPr>
        <p:grpSpPr>
          <a:xfrm>
            <a:off x="8077200" y="3308002"/>
            <a:ext cx="3781425" cy="1914525"/>
            <a:chOff x="8077200" y="3308002"/>
            <a:chExt cx="3781425" cy="1914525"/>
          </a:xfrm>
        </p:grpSpPr>
        <p:sp>
          <p:nvSpPr>
            <p:cNvPr id="5" name="Rounded Rectangle 4"/>
            <p:cNvSpPr/>
            <p:nvPr/>
          </p:nvSpPr>
          <p:spPr>
            <a:xfrm>
              <a:off x="8077200" y="3308002"/>
              <a:ext cx="3352800" cy="1914525"/>
            </a:xfrm>
            <a:prstGeom prst="roundRect">
              <a:avLst>
                <a:gd name="adj" fmla="val 7960"/>
              </a:avLst>
            </a:prstGeom>
            <a:solidFill>
              <a:srgbClr val="FDFF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E961EFE-D944-635E-61B4-65E908646A6F}"/>
                </a:ext>
              </a:extLst>
            </p:cNvPr>
            <p:cNvGrpSpPr/>
            <p:nvPr/>
          </p:nvGrpSpPr>
          <p:grpSpPr>
            <a:xfrm>
              <a:off x="8458200" y="3689002"/>
              <a:ext cx="3400425" cy="1152525"/>
              <a:chOff x="8458200" y="3689002"/>
              <a:chExt cx="3400425" cy="1152525"/>
            </a:xfrm>
          </p:grpSpPr>
          <p:pic>
            <p:nvPicPr>
              <p:cNvPr id="8" name="Picture 7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58200" y="3689002"/>
                <a:ext cx="381000" cy="304800"/>
              </a:xfrm>
              <a:prstGeom prst="rect">
                <a:avLst/>
              </a:prstGeom>
            </p:spPr>
          </p:pic>
          <p:sp>
            <p:nvSpPr>
              <p:cNvPr id="15" name="TextBox 14"/>
              <p:cNvSpPr txBox="1"/>
              <p:nvPr/>
            </p:nvSpPr>
            <p:spPr>
              <a:xfrm>
                <a:off x="8458200" y="4222402"/>
                <a:ext cx="3400425" cy="28575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800" b="1" i="0" u="none">
                    <a:solidFill>
                      <a:srgbClr val="0F172A"/>
                    </a:solidFill>
                    <a:latin typeface="Plus Jakarta Sans"/>
                  </a:rPr>
                  <a:t>Blind Decisions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8458200" y="4622452"/>
                <a:ext cx="3238500" cy="21907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50" b="0" i="0" u="none" dirty="0">
                    <a:solidFill>
                      <a:srgbClr val="475569"/>
                    </a:solidFill>
                    <a:latin typeface="Plus Jakarta Sans"/>
                  </a:rPr>
                  <a:t>Intuition instead of evidence.</a:t>
                </a:r>
              </a:p>
            </p:txBody>
          </p:sp>
        </p:grpSp>
      </p:grpSp>
      <p:pic>
        <p:nvPicPr>
          <p:cNvPr id="22" name="Google Shape;85;p13" descr="image.png">
            <a:extLst>
              <a:ext uri="{FF2B5EF4-FFF2-40B4-BE49-F238E27FC236}">
                <a16:creationId xmlns:a16="http://schemas.microsoft.com/office/drawing/2014/main" id="{164C7DAC-0192-A7A7-4B47-7ADFDFAB138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84;p13" descr="image.png">
            <a:extLst>
              <a:ext uri="{FF2B5EF4-FFF2-40B4-BE49-F238E27FC236}">
                <a16:creationId xmlns:a16="http://schemas.microsoft.com/office/drawing/2014/main" id="{C7AC980E-5F70-98B8-E506-3DB71DBEC0BE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609600" y="1635472"/>
            <a:ext cx="146685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403377"/>
            <a:ext cx="38100" cy="819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980" y="609600"/>
            <a:ext cx="6309419" cy="563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3900" y="1692622"/>
            <a:ext cx="1333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THE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49822"/>
            <a:ext cx="4516501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 dirty="0">
                <a:solidFill>
                  <a:srgbClr val="064E3B"/>
                </a:solidFill>
                <a:latin typeface="Plus Jakarta Sans"/>
              </a:rPr>
              <a:t>The Agent-Driven BI Analyst.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384202"/>
            <a:ext cx="390525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Plus Jakarta Sans"/>
              </a:rPr>
              <a:t>AuraBI doesn't just guess numbers. It plans pipelines, writes compiled SQL, and proves its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593877"/>
            <a:ext cx="388233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Ask in plain words.</a:t>
            </a:r>
            <a:r>
              <a:t>
</a:t>
            </a:r>
            <a:r>
              <a:rPr sz="1350" b="1" i="0" u="none">
                <a:solidFill>
                  <a:srgbClr val="EA580C"/>
                </a:solidFill>
                <a:latin typeface="Plus Jakarta Sans"/>
              </a:rPr>
              <a:t>See the verified trace.</a:t>
            </a:r>
          </a:p>
        </p:txBody>
      </p:sp>
      <p:pic>
        <p:nvPicPr>
          <p:cNvPr id="14" name="Google Shape;85;p13" descr="image.png">
            <a:extLst>
              <a:ext uri="{FF2B5EF4-FFF2-40B4-BE49-F238E27FC236}">
                <a16:creationId xmlns:a16="http://schemas.microsoft.com/office/drawing/2014/main" id="{C293946E-064C-D763-CF7F-E1F3AFEFE2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rcRect l="22820" t="1900" r="22820" b="1179"/>
          <a:stretch>
            <a:fillRect/>
          </a:stretch>
        </p:blipFill>
        <p:spPr>
          <a:xfrm>
            <a:off x="5272980" y="746760"/>
            <a:ext cx="6309419" cy="563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4;p13" descr="image.png">
            <a:extLst>
              <a:ext uri="{FF2B5EF4-FFF2-40B4-BE49-F238E27FC236}">
                <a16:creationId xmlns:a16="http://schemas.microsoft.com/office/drawing/2014/main" id="{A6328171-A959-6BF9-7431-AA8165BFB7AB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609600" y="609600"/>
            <a:ext cx="171450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rcRect l="11134" r="11135"/>
          <a:stretch>
            <a:fillRect/>
          </a:stretch>
        </p:blipFill>
        <p:spPr>
          <a:xfrm>
            <a:off x="1831424" y="1914525"/>
            <a:ext cx="8529151" cy="4333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666750"/>
            <a:ext cx="1581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CORE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047750"/>
            <a:ext cx="434734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Plus Jakarta Sans"/>
              </a:rPr>
              <a:t>Dynamic </a:t>
            </a:r>
            <a:r>
              <a:rPr lang="fr-FR" sz="3000" b="1" i="0" u="none" dirty="0">
                <a:solidFill>
                  <a:srgbClr val="0F172A"/>
                </a:solidFill>
                <a:latin typeface="Plus Jakarta Sans"/>
              </a:rPr>
              <a:t>Data Reading</a:t>
            </a:r>
            <a:r>
              <a:rPr sz="3000" b="1" i="0" u="none" dirty="0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pic>
        <p:nvPicPr>
          <p:cNvPr id="11" name="Google Shape;85;p13" descr="image.png">
            <a:extLst>
              <a:ext uri="{FF2B5EF4-FFF2-40B4-BE49-F238E27FC236}">
                <a16:creationId xmlns:a16="http://schemas.microsoft.com/office/drawing/2014/main" id="{4A5581B3-257A-151C-B03F-94C938BEBDE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831424" y="1914525"/>
            <a:ext cx="8529151" cy="4333875"/>
          </a:xfrm>
          <a:prstGeom prst="roundRect">
            <a:avLst>
              <a:gd name="adj" fmla="val 331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8991600" y="1295400"/>
            <a:ext cx="195726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fr-FR" sz="1500" b="1" dirty="0" err="1">
                <a:solidFill>
                  <a:srgbClr val="EA580C"/>
                </a:solidFill>
                <a:latin typeface="Plus Jakarta Sans"/>
              </a:rPr>
              <a:t>Zetaris</a:t>
            </a:r>
            <a:r>
              <a:rPr lang="fr-FR" sz="1500" b="1" dirty="0">
                <a:solidFill>
                  <a:srgbClr val="EA580C"/>
                </a:solidFill>
                <a:latin typeface="Plus Jakarta Sans"/>
              </a:rPr>
              <a:t>  data </a:t>
            </a:r>
            <a:r>
              <a:rPr lang="fr-FR" sz="1500" b="1" dirty="0" err="1">
                <a:solidFill>
                  <a:srgbClr val="EA580C"/>
                </a:solidFill>
                <a:latin typeface="Plus Jakarta Sans"/>
              </a:rPr>
              <a:t>fetching</a:t>
            </a:r>
            <a:endParaRPr sz="1500" b="1" i="0" u="none" dirty="0">
              <a:solidFill>
                <a:srgbClr val="EA580C"/>
              </a:solidFill>
              <a:latin typeface="Plus Jakarta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84;p13" descr="image.png">
            <a:extLst>
              <a:ext uri="{FF2B5EF4-FFF2-40B4-BE49-F238E27FC236}">
                <a16:creationId xmlns:a16="http://schemas.microsoft.com/office/drawing/2014/main" id="{3465AE9F-5686-9E2F-3D2B-3239D38D66D1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6802635" y="2147887"/>
            <a:ext cx="1028700" cy="285750"/>
          </a:xfrm>
          <a:prstGeom prst="roundRect">
            <a:avLst>
              <a:gd name="adj" fmla="val 13333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09600"/>
            <a:ext cx="5735835" cy="5638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09600"/>
            <a:ext cx="5735835" cy="5638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2635" y="3457575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2635" y="3886200"/>
            <a:ext cx="23812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2635" y="4314825"/>
            <a:ext cx="19050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16935" y="2205037"/>
            <a:ext cx="895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2635" y="2662237"/>
            <a:ext cx="538936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64E3B"/>
                </a:solidFill>
                <a:latin typeface="Plus Jakarta Sans"/>
              </a:rPr>
              <a:t>Zero Hallucinations.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5535" y="3424237"/>
            <a:ext cx="321562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EA580C"/>
                </a:solidFill>
                <a:latin typeface="Plus Jakarta Sans"/>
              </a:rPr>
              <a:t>Plans</a:t>
            </a:r>
            <a:r>
              <a:rPr sz="1500" i="0" u="none" dirty="0">
                <a:solidFill>
                  <a:srgbClr val="EA580C"/>
                </a:solidFill>
                <a:latin typeface="Plus Jakarta Sans"/>
              </a:rPr>
              <a:t>: </a:t>
            </a:r>
            <a:r>
              <a:rPr sz="1500" i="1" u="none" dirty="0" err="1">
                <a:solidFill>
                  <a:srgbClr val="EA580C"/>
                </a:solidFill>
                <a:latin typeface="Plus Jakarta Sans"/>
              </a:rPr>
              <a:t>Nemotron</a:t>
            </a:r>
            <a:r>
              <a:rPr sz="1500" i="1" u="none" dirty="0">
                <a:solidFill>
                  <a:srgbClr val="EA580C"/>
                </a:solidFill>
                <a:latin typeface="Plus Jakarta Sans"/>
              </a:rPr>
              <a:t> maps the schema</a:t>
            </a:r>
            <a:r>
              <a:rPr sz="1500" i="0" u="none" dirty="0">
                <a:solidFill>
                  <a:srgbClr val="EA580C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3160" y="3852862"/>
            <a:ext cx="371896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EA580C"/>
                </a:solidFill>
                <a:latin typeface="Plus Jakarta Sans"/>
              </a:rPr>
              <a:t>Executes</a:t>
            </a:r>
            <a:r>
              <a:rPr sz="1500" b="1" i="1" u="none" dirty="0">
                <a:solidFill>
                  <a:srgbClr val="EA580C"/>
                </a:solidFill>
                <a:latin typeface="Plus Jakarta Sans"/>
              </a:rPr>
              <a:t>: </a:t>
            </a:r>
            <a:r>
              <a:rPr sz="1500" i="1" u="none" dirty="0" err="1">
                <a:solidFill>
                  <a:srgbClr val="EA580C"/>
                </a:solidFill>
                <a:latin typeface="Plus Jakarta Sans"/>
              </a:rPr>
              <a:t>Zetaris</a:t>
            </a:r>
            <a:r>
              <a:rPr sz="1500" i="1" u="none" dirty="0">
                <a:solidFill>
                  <a:srgbClr val="EA580C"/>
                </a:solidFill>
                <a:latin typeface="Plus Jakarta Sans"/>
              </a:rPr>
              <a:t> runs the analytical SQL</a:t>
            </a:r>
            <a:r>
              <a:rPr sz="1500" i="0" u="none" dirty="0">
                <a:solidFill>
                  <a:srgbClr val="EA580C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5535" y="4281487"/>
            <a:ext cx="381354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EA580C"/>
                </a:solidFill>
                <a:latin typeface="Plus Jakarta Sans"/>
              </a:rPr>
              <a:t>Proves: </a:t>
            </a:r>
            <a:r>
              <a:rPr sz="1500" i="1" u="none" dirty="0">
                <a:solidFill>
                  <a:srgbClr val="EA580C"/>
                </a:solidFill>
                <a:latin typeface="Plus Jakarta Sans"/>
              </a:rPr>
              <a:t>Guardian pauses for risky queries</a:t>
            </a:r>
            <a:r>
              <a:rPr sz="1500" b="1" i="1" u="none" dirty="0">
                <a:solidFill>
                  <a:srgbClr val="EA580C"/>
                </a:solidFill>
                <a:latin typeface="Plus Jakarta Sans"/>
              </a:rPr>
              <a:t>.</a:t>
            </a:r>
          </a:p>
        </p:txBody>
      </p:sp>
      <p:pic>
        <p:nvPicPr>
          <p:cNvPr id="16" name="Google Shape;85;p13" descr="image.png">
            <a:extLst>
              <a:ext uri="{FF2B5EF4-FFF2-40B4-BE49-F238E27FC236}">
                <a16:creationId xmlns:a16="http://schemas.microsoft.com/office/drawing/2014/main" id="{AAAB649F-7893-AD4D-1D60-FC694A196C4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A60E6-F66F-CECD-5A33-C4EC9A180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4;p13" descr="image.png">
            <a:extLst>
              <a:ext uri="{FF2B5EF4-FFF2-40B4-BE49-F238E27FC236}">
                <a16:creationId xmlns:a16="http://schemas.microsoft.com/office/drawing/2014/main" id="{698878BD-3245-8C67-AC6D-92EB515893ED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9CB934B-310B-CC36-B0DE-B6CEB41ED3F0}"/>
              </a:ext>
            </a:extLst>
          </p:cNvPr>
          <p:cNvSpPr/>
          <p:nvPr/>
        </p:nvSpPr>
        <p:spPr>
          <a:xfrm>
            <a:off x="762000" y="1814512"/>
            <a:ext cx="135255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43FFDE-4B33-BB80-4269-1DBA93F55116}"/>
              </a:ext>
            </a:extLst>
          </p:cNvPr>
          <p:cNvSpPr/>
          <p:nvPr/>
        </p:nvSpPr>
        <p:spPr>
          <a:xfrm>
            <a:off x="1295400" y="4281487"/>
            <a:ext cx="9601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FE440-5ED7-653E-6A45-5D044944CFD7}"/>
              </a:ext>
            </a:extLst>
          </p:cNvPr>
          <p:cNvSpPr txBox="1"/>
          <p:nvPr/>
        </p:nvSpPr>
        <p:spPr>
          <a:xfrm>
            <a:off x="876300" y="1871662"/>
            <a:ext cx="121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HOW IT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02725-6C21-3727-4894-DC29EAA7C378}"/>
              </a:ext>
            </a:extLst>
          </p:cNvPr>
          <p:cNvSpPr txBox="1"/>
          <p:nvPr/>
        </p:nvSpPr>
        <p:spPr>
          <a:xfrm>
            <a:off x="762000" y="2328862"/>
            <a:ext cx="114300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4E3B"/>
                </a:solidFill>
                <a:latin typeface="Plus Jakarta Sans"/>
              </a:rPr>
              <a:t>Specialized agent coordination.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0C726DE-3AF2-7284-9B6E-58B2B928CD0A}"/>
              </a:ext>
            </a:extLst>
          </p:cNvPr>
          <p:cNvGrpSpPr/>
          <p:nvPr/>
        </p:nvGrpSpPr>
        <p:grpSpPr>
          <a:xfrm>
            <a:off x="761999" y="3519487"/>
            <a:ext cx="1524000" cy="1524000"/>
            <a:chOff x="9906000" y="3519487"/>
            <a:chExt cx="1524000" cy="152400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95BBE2C-F2A3-C4C7-6A4E-DE3936B0D4F0}"/>
                </a:ext>
              </a:extLst>
            </p:cNvPr>
            <p:cNvSpPr/>
            <p:nvPr/>
          </p:nvSpPr>
          <p:spPr>
            <a:xfrm>
              <a:off x="9906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064E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836FC39-BE51-3C3B-CC0D-7D58452FDB26}"/>
                </a:ext>
              </a:extLst>
            </p:cNvPr>
            <p:cNvGrpSpPr/>
            <p:nvPr/>
          </p:nvGrpSpPr>
          <p:grpSpPr>
            <a:xfrm>
              <a:off x="10234612" y="3890962"/>
              <a:ext cx="866775" cy="781050"/>
              <a:chOff x="10234612" y="3890962"/>
              <a:chExt cx="866775" cy="781050"/>
            </a:xfrm>
          </p:grpSpPr>
          <p:pic>
            <p:nvPicPr>
              <p:cNvPr id="15" name="Picture 14" descr="image.png">
                <a:extLst>
                  <a:ext uri="{FF2B5EF4-FFF2-40B4-BE49-F238E27FC236}">
                    <a16:creationId xmlns:a16="http://schemas.microsoft.com/office/drawing/2014/main" id="{B45B195B-CDEF-170E-7A3D-EF3DFA782D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96550" y="3890962"/>
                <a:ext cx="342900" cy="3048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7A6634-A132-CF04-AA86-8ACFA31E8B99}"/>
                  </a:ext>
                </a:extLst>
              </p:cNvPr>
              <p:cNvSpPr txBox="1"/>
              <p:nvPr/>
            </p:nvSpPr>
            <p:spPr>
              <a:xfrm>
                <a:off x="10234612" y="4271962"/>
                <a:ext cx="866775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Verified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 Answer</a:t>
                </a:r>
              </a:p>
            </p:txBody>
          </p:sp>
        </p:grpSp>
      </p:grpSp>
      <p:pic>
        <p:nvPicPr>
          <p:cNvPr id="24" name="Google Shape;85;p13" descr="image.png">
            <a:extLst>
              <a:ext uri="{FF2B5EF4-FFF2-40B4-BE49-F238E27FC236}">
                <a16:creationId xmlns:a16="http://schemas.microsoft.com/office/drawing/2014/main" id="{55A5DB97-374B-EAA3-354E-3E13AC268BA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34FD8E3-450F-9E61-451D-53610780F2B3}"/>
              </a:ext>
            </a:extLst>
          </p:cNvPr>
          <p:cNvGrpSpPr/>
          <p:nvPr/>
        </p:nvGrpSpPr>
        <p:grpSpPr>
          <a:xfrm>
            <a:off x="762000" y="3519487"/>
            <a:ext cx="1524000" cy="1524000"/>
            <a:chOff x="7620000" y="3519487"/>
            <a:chExt cx="1524000" cy="1524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E1A471B-2DF6-BF65-DC57-C371897E8397}"/>
                </a:ext>
              </a:extLst>
            </p:cNvPr>
            <p:cNvSpPr/>
            <p:nvPr/>
          </p:nvSpPr>
          <p:spPr>
            <a:xfrm>
              <a:off x="7620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EA58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541AC53-1999-D3EB-700F-BEA883345696}"/>
                </a:ext>
              </a:extLst>
            </p:cNvPr>
            <p:cNvGrpSpPr/>
            <p:nvPr/>
          </p:nvGrpSpPr>
          <p:grpSpPr>
            <a:xfrm>
              <a:off x="7867650" y="3890962"/>
              <a:ext cx="1028700" cy="781050"/>
              <a:chOff x="7867650" y="3890962"/>
              <a:chExt cx="1028700" cy="781050"/>
            </a:xfrm>
          </p:grpSpPr>
          <p:pic>
            <p:nvPicPr>
              <p:cNvPr id="14" name="Picture 13" descr="image.png">
                <a:extLst>
                  <a:ext uri="{FF2B5EF4-FFF2-40B4-BE49-F238E27FC236}">
                    <a16:creationId xmlns:a16="http://schemas.microsoft.com/office/drawing/2014/main" id="{3D039F09-299C-22BD-8389-84DCB3FBDE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48650" y="3890962"/>
                <a:ext cx="266700" cy="3048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F8BA87-E3E0-B74E-26B3-00927B923910}"/>
                  </a:ext>
                </a:extLst>
              </p:cNvPr>
              <p:cNvSpPr txBox="1"/>
              <p:nvPr/>
            </p:nvSpPr>
            <p:spPr>
              <a:xfrm>
                <a:off x="7867650" y="4271962"/>
                <a:ext cx="1028700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 err="1">
                    <a:solidFill>
                      <a:srgbClr val="0F172A"/>
                    </a:solidFill>
                    <a:latin typeface="Plus Jakarta Sans"/>
                  </a:rPr>
                  <a:t>Zetaris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 Execution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40A49B-C9C3-4DDC-80DD-517B4FA2FB48}"/>
              </a:ext>
            </a:extLst>
          </p:cNvPr>
          <p:cNvGrpSpPr/>
          <p:nvPr/>
        </p:nvGrpSpPr>
        <p:grpSpPr>
          <a:xfrm>
            <a:off x="762000" y="3519487"/>
            <a:ext cx="1524000" cy="1524000"/>
            <a:chOff x="5334000" y="3519487"/>
            <a:chExt cx="1524000" cy="152400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896A91D-2C41-0ABF-7C0A-EF25C383FF7E}"/>
                </a:ext>
              </a:extLst>
            </p:cNvPr>
            <p:cNvSpPr/>
            <p:nvPr/>
          </p:nvSpPr>
          <p:spPr>
            <a:xfrm>
              <a:off x="5334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64E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04AF4C2-09E9-42D4-E586-690A85BDDD88}"/>
                </a:ext>
              </a:extLst>
            </p:cNvPr>
            <p:cNvGrpSpPr/>
            <p:nvPr/>
          </p:nvGrpSpPr>
          <p:grpSpPr>
            <a:xfrm>
              <a:off x="5572125" y="3890962"/>
              <a:ext cx="1047750" cy="781050"/>
              <a:chOff x="5572125" y="3890962"/>
              <a:chExt cx="1047750" cy="781050"/>
            </a:xfrm>
          </p:grpSpPr>
          <p:pic>
            <p:nvPicPr>
              <p:cNvPr id="13" name="Picture 12" descr="image.png">
                <a:extLst>
                  <a:ext uri="{FF2B5EF4-FFF2-40B4-BE49-F238E27FC236}">
                    <a16:creationId xmlns:a16="http://schemas.microsoft.com/office/drawing/2014/main" id="{BD472C2B-F390-FF77-1079-BD822608E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43600" y="3890962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FB47B66-14EF-D0DA-C927-4F5F71E9CDA3}"/>
                  </a:ext>
                </a:extLst>
              </p:cNvPr>
              <p:cNvSpPr txBox="1"/>
              <p:nvPr/>
            </p:nvSpPr>
            <p:spPr>
              <a:xfrm>
                <a:off x="5572125" y="4271962"/>
                <a:ext cx="1047750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 err="1">
                    <a:solidFill>
                      <a:srgbClr val="0F172A"/>
                    </a:solidFill>
                    <a:latin typeface="Plus Jakarta Sans"/>
                  </a:rPr>
                  <a:t>Nemotron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 Reasoning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8C54C9B-6967-8D65-EDB2-575A969258B2}"/>
              </a:ext>
            </a:extLst>
          </p:cNvPr>
          <p:cNvGrpSpPr/>
          <p:nvPr/>
        </p:nvGrpSpPr>
        <p:grpSpPr>
          <a:xfrm>
            <a:off x="762000" y="3519487"/>
            <a:ext cx="1524000" cy="1524000"/>
            <a:chOff x="3048000" y="3519487"/>
            <a:chExt cx="1524000" cy="1524000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7586ADC-A67A-082F-A550-80AA92A096F1}"/>
                </a:ext>
              </a:extLst>
            </p:cNvPr>
            <p:cNvSpPr/>
            <p:nvPr/>
          </p:nvSpPr>
          <p:spPr>
            <a:xfrm>
              <a:off x="3048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064E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37BA6FE-0249-44C5-FE11-75106E4445CD}"/>
                </a:ext>
              </a:extLst>
            </p:cNvPr>
            <p:cNvGrpSpPr/>
            <p:nvPr/>
          </p:nvGrpSpPr>
          <p:grpSpPr>
            <a:xfrm>
              <a:off x="3271837" y="3890962"/>
              <a:ext cx="1076325" cy="781050"/>
              <a:chOff x="3271837" y="3890962"/>
              <a:chExt cx="1076325" cy="781050"/>
            </a:xfrm>
          </p:grpSpPr>
          <p:pic>
            <p:nvPicPr>
              <p:cNvPr id="12" name="Picture 11" descr="image.png">
                <a:extLst>
                  <a:ext uri="{FF2B5EF4-FFF2-40B4-BE49-F238E27FC236}">
                    <a16:creationId xmlns:a16="http://schemas.microsoft.com/office/drawing/2014/main" id="{7D653532-F859-DB58-24D6-01BD9295B4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19500" y="3890962"/>
                <a:ext cx="381000" cy="3048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AFEA46-517D-6B58-BDE0-7DD08CED4CB1}"/>
                  </a:ext>
                </a:extLst>
              </p:cNvPr>
              <p:cNvSpPr txBox="1"/>
              <p:nvPr/>
            </p:nvSpPr>
            <p:spPr>
              <a:xfrm>
                <a:off x="3271837" y="4271962"/>
                <a:ext cx="1076325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Supervisor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 Agent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E0B88A9-F364-6A35-0C0E-A0A46C5FEEC1}"/>
              </a:ext>
            </a:extLst>
          </p:cNvPr>
          <p:cNvGrpSpPr/>
          <p:nvPr/>
        </p:nvGrpSpPr>
        <p:grpSpPr>
          <a:xfrm>
            <a:off x="762000" y="3519487"/>
            <a:ext cx="1566862" cy="1524000"/>
            <a:chOff x="762000" y="3519487"/>
            <a:chExt cx="1566862" cy="15240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49944DB-E653-20EA-F72B-754CC3DD467C}"/>
                </a:ext>
              </a:extLst>
            </p:cNvPr>
            <p:cNvSpPr/>
            <p:nvPr/>
          </p:nvSpPr>
          <p:spPr>
            <a:xfrm>
              <a:off x="762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64E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769BA4-C090-C0A9-985D-5553C6E2849D}"/>
                </a:ext>
              </a:extLst>
            </p:cNvPr>
            <p:cNvGrpSpPr/>
            <p:nvPr/>
          </p:nvGrpSpPr>
          <p:grpSpPr>
            <a:xfrm>
              <a:off x="1004887" y="3990975"/>
              <a:ext cx="1323975" cy="581025"/>
              <a:chOff x="1004887" y="3990975"/>
              <a:chExt cx="1323975" cy="581025"/>
            </a:xfrm>
          </p:grpSpPr>
          <p:pic>
            <p:nvPicPr>
              <p:cNvPr id="11" name="Picture 10" descr="image.png">
                <a:extLst>
                  <a:ext uri="{FF2B5EF4-FFF2-40B4-BE49-F238E27FC236}">
                    <a16:creationId xmlns:a16="http://schemas.microsoft.com/office/drawing/2014/main" id="{9CC6AAF6-C5F5-1940-B3ED-926371BB96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90650" y="3990975"/>
                <a:ext cx="266700" cy="304800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80E274-86D1-1859-B410-1C07A57E5657}"/>
                  </a:ext>
                </a:extLst>
              </p:cNvPr>
              <p:cNvSpPr txBox="1"/>
              <p:nvPr/>
            </p:nvSpPr>
            <p:spPr>
              <a:xfrm>
                <a:off x="1004887" y="4371975"/>
                <a:ext cx="1323975" cy="2000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User Question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6543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00">
        <p:fade/>
      </p:transition>
    </mc:Choice>
    <mc:Fallback>
      <p:transition spd="med" advTm="1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5333-840A-3266-884B-BBC75239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4;p13" descr="image.png">
            <a:extLst>
              <a:ext uri="{FF2B5EF4-FFF2-40B4-BE49-F238E27FC236}">
                <a16:creationId xmlns:a16="http://schemas.microsoft.com/office/drawing/2014/main" id="{F104A411-4D67-DC16-DF35-67D0CE5AE8D1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F931E75-3C83-AC77-AAD3-D3D8B0DB9119}"/>
              </a:ext>
            </a:extLst>
          </p:cNvPr>
          <p:cNvSpPr/>
          <p:nvPr/>
        </p:nvSpPr>
        <p:spPr>
          <a:xfrm>
            <a:off x="762000" y="1814512"/>
            <a:ext cx="135255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892526-ECA6-CB33-CE3D-1FEA40A8DD53}"/>
              </a:ext>
            </a:extLst>
          </p:cNvPr>
          <p:cNvSpPr/>
          <p:nvPr/>
        </p:nvSpPr>
        <p:spPr>
          <a:xfrm>
            <a:off x="1295400" y="4281487"/>
            <a:ext cx="9601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DDE384-BD0E-4D24-9B4C-A491D561836D}"/>
              </a:ext>
            </a:extLst>
          </p:cNvPr>
          <p:cNvSpPr txBox="1"/>
          <p:nvPr/>
        </p:nvSpPr>
        <p:spPr>
          <a:xfrm>
            <a:off x="876300" y="1871662"/>
            <a:ext cx="121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HOW IT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3107B4-9423-3AFF-236A-30A0FB664039}"/>
              </a:ext>
            </a:extLst>
          </p:cNvPr>
          <p:cNvSpPr txBox="1"/>
          <p:nvPr/>
        </p:nvSpPr>
        <p:spPr>
          <a:xfrm>
            <a:off x="762000" y="2328862"/>
            <a:ext cx="114300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4E3B"/>
                </a:solidFill>
                <a:latin typeface="Plus Jakarta Sans"/>
              </a:rPr>
              <a:t>Specialized agent coordination.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8A69409-71F7-FC52-7C4F-65CE5FFB480F}"/>
              </a:ext>
            </a:extLst>
          </p:cNvPr>
          <p:cNvGrpSpPr/>
          <p:nvPr/>
        </p:nvGrpSpPr>
        <p:grpSpPr>
          <a:xfrm>
            <a:off x="3048000" y="3519487"/>
            <a:ext cx="1524000" cy="1524000"/>
            <a:chOff x="9906000" y="3519487"/>
            <a:chExt cx="1524000" cy="152400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8258473-F430-5C8A-D85A-F8A824477696}"/>
                </a:ext>
              </a:extLst>
            </p:cNvPr>
            <p:cNvSpPr/>
            <p:nvPr/>
          </p:nvSpPr>
          <p:spPr>
            <a:xfrm>
              <a:off x="9906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064E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CE4A2D3-63CF-792C-881A-A35121B19B1C}"/>
                </a:ext>
              </a:extLst>
            </p:cNvPr>
            <p:cNvGrpSpPr/>
            <p:nvPr/>
          </p:nvGrpSpPr>
          <p:grpSpPr>
            <a:xfrm>
              <a:off x="10234612" y="3890962"/>
              <a:ext cx="866775" cy="781050"/>
              <a:chOff x="10234612" y="3890962"/>
              <a:chExt cx="866775" cy="781050"/>
            </a:xfrm>
          </p:grpSpPr>
          <p:pic>
            <p:nvPicPr>
              <p:cNvPr id="15" name="Picture 14" descr="image.png">
                <a:extLst>
                  <a:ext uri="{FF2B5EF4-FFF2-40B4-BE49-F238E27FC236}">
                    <a16:creationId xmlns:a16="http://schemas.microsoft.com/office/drawing/2014/main" id="{5983B067-26F9-A53E-D328-41F3E61E61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96550" y="3890962"/>
                <a:ext cx="342900" cy="3048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0BF9A9-A497-827A-FDCE-79E3C62577E3}"/>
                  </a:ext>
                </a:extLst>
              </p:cNvPr>
              <p:cNvSpPr txBox="1"/>
              <p:nvPr/>
            </p:nvSpPr>
            <p:spPr>
              <a:xfrm>
                <a:off x="10234612" y="4271962"/>
                <a:ext cx="866775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Verified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 Answer</a:t>
                </a:r>
              </a:p>
            </p:txBody>
          </p:sp>
        </p:grpSp>
      </p:grpSp>
      <p:pic>
        <p:nvPicPr>
          <p:cNvPr id="24" name="Google Shape;85;p13" descr="image.png">
            <a:extLst>
              <a:ext uri="{FF2B5EF4-FFF2-40B4-BE49-F238E27FC236}">
                <a16:creationId xmlns:a16="http://schemas.microsoft.com/office/drawing/2014/main" id="{F5EB4256-B300-4217-A2F8-B260BDBEDD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248AA4C-2D6F-2C08-8251-6ACC1E0B50F2}"/>
              </a:ext>
            </a:extLst>
          </p:cNvPr>
          <p:cNvGrpSpPr/>
          <p:nvPr/>
        </p:nvGrpSpPr>
        <p:grpSpPr>
          <a:xfrm>
            <a:off x="3048000" y="3519487"/>
            <a:ext cx="1524000" cy="1524000"/>
            <a:chOff x="7620000" y="3519487"/>
            <a:chExt cx="1524000" cy="1524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49A1EB6-F0B3-8E3E-457E-0A7C21E51F13}"/>
                </a:ext>
              </a:extLst>
            </p:cNvPr>
            <p:cNvSpPr/>
            <p:nvPr/>
          </p:nvSpPr>
          <p:spPr>
            <a:xfrm>
              <a:off x="7620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EA58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29FC26C-7DBD-5DBC-1C48-A72E74EA4E42}"/>
                </a:ext>
              </a:extLst>
            </p:cNvPr>
            <p:cNvGrpSpPr/>
            <p:nvPr/>
          </p:nvGrpSpPr>
          <p:grpSpPr>
            <a:xfrm>
              <a:off x="7867650" y="3890962"/>
              <a:ext cx="1028700" cy="781050"/>
              <a:chOff x="7867650" y="3890962"/>
              <a:chExt cx="1028700" cy="781050"/>
            </a:xfrm>
          </p:grpSpPr>
          <p:pic>
            <p:nvPicPr>
              <p:cNvPr id="14" name="Picture 13" descr="image.png">
                <a:extLst>
                  <a:ext uri="{FF2B5EF4-FFF2-40B4-BE49-F238E27FC236}">
                    <a16:creationId xmlns:a16="http://schemas.microsoft.com/office/drawing/2014/main" id="{6550A1F0-1DD6-0016-823F-F29272988A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48650" y="3890962"/>
                <a:ext cx="266700" cy="3048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05541A-B23D-56A0-D5F2-037DC8D6775F}"/>
                  </a:ext>
                </a:extLst>
              </p:cNvPr>
              <p:cNvSpPr txBox="1"/>
              <p:nvPr/>
            </p:nvSpPr>
            <p:spPr>
              <a:xfrm>
                <a:off x="7867650" y="4271962"/>
                <a:ext cx="1028700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 err="1">
                    <a:solidFill>
                      <a:srgbClr val="0F172A"/>
                    </a:solidFill>
                    <a:latin typeface="Plus Jakarta Sans"/>
                  </a:rPr>
                  <a:t>Zetaris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 Execution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48DB08-541C-9574-DA4F-915F0AA52E4B}"/>
              </a:ext>
            </a:extLst>
          </p:cNvPr>
          <p:cNvGrpSpPr/>
          <p:nvPr/>
        </p:nvGrpSpPr>
        <p:grpSpPr>
          <a:xfrm>
            <a:off x="3048000" y="3519487"/>
            <a:ext cx="1524000" cy="1524000"/>
            <a:chOff x="5334000" y="3519487"/>
            <a:chExt cx="1524000" cy="152400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1290D9B-3680-7041-08E2-9538A2095E95}"/>
                </a:ext>
              </a:extLst>
            </p:cNvPr>
            <p:cNvSpPr/>
            <p:nvPr/>
          </p:nvSpPr>
          <p:spPr>
            <a:xfrm>
              <a:off x="5334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64E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7FEDD71-8506-12BC-2457-DBC181B1E67B}"/>
                </a:ext>
              </a:extLst>
            </p:cNvPr>
            <p:cNvGrpSpPr/>
            <p:nvPr/>
          </p:nvGrpSpPr>
          <p:grpSpPr>
            <a:xfrm>
              <a:off x="5572125" y="3890962"/>
              <a:ext cx="1047750" cy="781050"/>
              <a:chOff x="5572125" y="3890962"/>
              <a:chExt cx="1047750" cy="781050"/>
            </a:xfrm>
          </p:grpSpPr>
          <p:pic>
            <p:nvPicPr>
              <p:cNvPr id="13" name="Picture 12" descr="image.png">
                <a:extLst>
                  <a:ext uri="{FF2B5EF4-FFF2-40B4-BE49-F238E27FC236}">
                    <a16:creationId xmlns:a16="http://schemas.microsoft.com/office/drawing/2014/main" id="{C7E0BED6-8728-F7AE-B6D4-5C647DA9A3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43600" y="3890962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B54466-1D20-9FED-C7CF-592956950454}"/>
                  </a:ext>
                </a:extLst>
              </p:cNvPr>
              <p:cNvSpPr txBox="1"/>
              <p:nvPr/>
            </p:nvSpPr>
            <p:spPr>
              <a:xfrm>
                <a:off x="5572125" y="4271962"/>
                <a:ext cx="1047750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 err="1">
                    <a:solidFill>
                      <a:srgbClr val="0F172A"/>
                    </a:solidFill>
                    <a:latin typeface="Plus Jakarta Sans"/>
                  </a:rPr>
                  <a:t>Nemotron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 Reasoning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C644BF5-0830-666D-953F-9DEE008380B3}"/>
              </a:ext>
            </a:extLst>
          </p:cNvPr>
          <p:cNvGrpSpPr/>
          <p:nvPr/>
        </p:nvGrpSpPr>
        <p:grpSpPr>
          <a:xfrm>
            <a:off x="3048000" y="3519487"/>
            <a:ext cx="1524000" cy="1524000"/>
            <a:chOff x="3048000" y="3519487"/>
            <a:chExt cx="1524000" cy="1524000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C893B98-FD81-E45F-F40B-6B3E8E2491DB}"/>
                </a:ext>
              </a:extLst>
            </p:cNvPr>
            <p:cNvSpPr/>
            <p:nvPr/>
          </p:nvSpPr>
          <p:spPr>
            <a:xfrm>
              <a:off x="3048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064E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C16EB62-8085-3E56-1DF0-CB9D1848633F}"/>
                </a:ext>
              </a:extLst>
            </p:cNvPr>
            <p:cNvGrpSpPr/>
            <p:nvPr/>
          </p:nvGrpSpPr>
          <p:grpSpPr>
            <a:xfrm>
              <a:off x="3271837" y="3890962"/>
              <a:ext cx="1076325" cy="781050"/>
              <a:chOff x="3271837" y="3890962"/>
              <a:chExt cx="1076325" cy="781050"/>
            </a:xfrm>
          </p:grpSpPr>
          <p:pic>
            <p:nvPicPr>
              <p:cNvPr id="12" name="Picture 11" descr="image.png">
                <a:extLst>
                  <a:ext uri="{FF2B5EF4-FFF2-40B4-BE49-F238E27FC236}">
                    <a16:creationId xmlns:a16="http://schemas.microsoft.com/office/drawing/2014/main" id="{C7B1C4A4-CE43-663C-672E-1EAED8FFE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19500" y="3890962"/>
                <a:ext cx="381000" cy="3048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CE383E-4814-9634-B7E9-4149663C5C2A}"/>
                  </a:ext>
                </a:extLst>
              </p:cNvPr>
              <p:cNvSpPr txBox="1"/>
              <p:nvPr/>
            </p:nvSpPr>
            <p:spPr>
              <a:xfrm>
                <a:off x="3271837" y="4271962"/>
                <a:ext cx="1076325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Supervisor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 Agent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8662B8B-770A-A2CA-1CE6-44E574946CB2}"/>
              </a:ext>
            </a:extLst>
          </p:cNvPr>
          <p:cNvGrpSpPr/>
          <p:nvPr/>
        </p:nvGrpSpPr>
        <p:grpSpPr>
          <a:xfrm>
            <a:off x="762000" y="3519487"/>
            <a:ext cx="1566862" cy="1524000"/>
            <a:chOff x="762000" y="3519487"/>
            <a:chExt cx="1566862" cy="15240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D7E1A050-9D01-AE7A-DEBE-B140032AB9AF}"/>
                </a:ext>
              </a:extLst>
            </p:cNvPr>
            <p:cNvSpPr/>
            <p:nvPr/>
          </p:nvSpPr>
          <p:spPr>
            <a:xfrm>
              <a:off x="762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64E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75BD3C0-879C-8C2D-7424-CF3D29BE4B86}"/>
                </a:ext>
              </a:extLst>
            </p:cNvPr>
            <p:cNvGrpSpPr/>
            <p:nvPr/>
          </p:nvGrpSpPr>
          <p:grpSpPr>
            <a:xfrm>
              <a:off x="1004887" y="3990975"/>
              <a:ext cx="1323975" cy="581025"/>
              <a:chOff x="1004887" y="3990975"/>
              <a:chExt cx="1323975" cy="581025"/>
            </a:xfrm>
          </p:grpSpPr>
          <p:pic>
            <p:nvPicPr>
              <p:cNvPr id="11" name="Picture 10" descr="image.png">
                <a:extLst>
                  <a:ext uri="{FF2B5EF4-FFF2-40B4-BE49-F238E27FC236}">
                    <a16:creationId xmlns:a16="http://schemas.microsoft.com/office/drawing/2014/main" id="{28ED3355-DD06-F81B-7545-1B9AFFDD70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90650" y="3990975"/>
                <a:ext cx="266700" cy="304800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76A58F-49C0-12B0-A6A3-C72708B9AA14}"/>
                  </a:ext>
                </a:extLst>
              </p:cNvPr>
              <p:cNvSpPr txBox="1"/>
              <p:nvPr/>
            </p:nvSpPr>
            <p:spPr>
              <a:xfrm>
                <a:off x="1004887" y="4371975"/>
                <a:ext cx="1323975" cy="2000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User Question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9928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Tm="1000">
        <p159:morph option="byObject"/>
      </p:transition>
    </mc:Choice>
    <mc:Fallback>
      <p:transition spd="med"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C03B6-6C1E-7595-FFAB-299FA7472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4;p13" descr="image.png">
            <a:extLst>
              <a:ext uri="{FF2B5EF4-FFF2-40B4-BE49-F238E27FC236}">
                <a16:creationId xmlns:a16="http://schemas.microsoft.com/office/drawing/2014/main" id="{87B6F1B3-35F7-2324-0C2C-632CC7722215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F958519-0169-BBA0-4357-34BB5093FEA9}"/>
              </a:ext>
            </a:extLst>
          </p:cNvPr>
          <p:cNvSpPr/>
          <p:nvPr/>
        </p:nvSpPr>
        <p:spPr>
          <a:xfrm>
            <a:off x="762000" y="1814512"/>
            <a:ext cx="135255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3FC66A-8C3C-A67C-E2FB-C60ABD8C968F}"/>
              </a:ext>
            </a:extLst>
          </p:cNvPr>
          <p:cNvSpPr/>
          <p:nvPr/>
        </p:nvSpPr>
        <p:spPr>
          <a:xfrm>
            <a:off x="1295400" y="4281487"/>
            <a:ext cx="9601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35DABF-D4CF-D821-83E9-6C52FE32FA27}"/>
              </a:ext>
            </a:extLst>
          </p:cNvPr>
          <p:cNvSpPr txBox="1"/>
          <p:nvPr/>
        </p:nvSpPr>
        <p:spPr>
          <a:xfrm>
            <a:off x="876300" y="1871662"/>
            <a:ext cx="121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HOW IT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144D0-DAFC-578D-C0DD-816EA51C08B3}"/>
              </a:ext>
            </a:extLst>
          </p:cNvPr>
          <p:cNvSpPr txBox="1"/>
          <p:nvPr/>
        </p:nvSpPr>
        <p:spPr>
          <a:xfrm>
            <a:off x="762000" y="2328862"/>
            <a:ext cx="114300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4E3B"/>
                </a:solidFill>
                <a:latin typeface="Plus Jakarta Sans"/>
              </a:rPr>
              <a:t>Specialized agent coordination.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EA299A-A086-944A-62E5-A37C31EF08E7}"/>
              </a:ext>
            </a:extLst>
          </p:cNvPr>
          <p:cNvGrpSpPr/>
          <p:nvPr/>
        </p:nvGrpSpPr>
        <p:grpSpPr>
          <a:xfrm>
            <a:off x="5334000" y="3519487"/>
            <a:ext cx="1524000" cy="1524000"/>
            <a:chOff x="9906000" y="3519487"/>
            <a:chExt cx="1524000" cy="152400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B7BEF6D3-58FD-4703-3B19-0DFFDC2E506D}"/>
                </a:ext>
              </a:extLst>
            </p:cNvPr>
            <p:cNvSpPr/>
            <p:nvPr/>
          </p:nvSpPr>
          <p:spPr>
            <a:xfrm>
              <a:off x="9906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064E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29896F7-A49F-508B-1812-A06394FE961C}"/>
                </a:ext>
              </a:extLst>
            </p:cNvPr>
            <p:cNvGrpSpPr/>
            <p:nvPr/>
          </p:nvGrpSpPr>
          <p:grpSpPr>
            <a:xfrm>
              <a:off x="10234612" y="3890962"/>
              <a:ext cx="866775" cy="781050"/>
              <a:chOff x="10234612" y="3890962"/>
              <a:chExt cx="866775" cy="781050"/>
            </a:xfrm>
          </p:grpSpPr>
          <p:pic>
            <p:nvPicPr>
              <p:cNvPr id="15" name="Picture 14" descr="image.png">
                <a:extLst>
                  <a:ext uri="{FF2B5EF4-FFF2-40B4-BE49-F238E27FC236}">
                    <a16:creationId xmlns:a16="http://schemas.microsoft.com/office/drawing/2014/main" id="{8A9184BD-F796-78E0-516F-F02A87D990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96550" y="3890962"/>
                <a:ext cx="342900" cy="3048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7D2029-899F-B0F8-AC72-099F7BE824F2}"/>
                  </a:ext>
                </a:extLst>
              </p:cNvPr>
              <p:cNvSpPr txBox="1"/>
              <p:nvPr/>
            </p:nvSpPr>
            <p:spPr>
              <a:xfrm>
                <a:off x="10234612" y="4271962"/>
                <a:ext cx="866775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Verified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 Answer</a:t>
                </a:r>
              </a:p>
            </p:txBody>
          </p:sp>
        </p:grpSp>
      </p:grpSp>
      <p:pic>
        <p:nvPicPr>
          <p:cNvPr id="24" name="Google Shape;85;p13" descr="image.png">
            <a:extLst>
              <a:ext uri="{FF2B5EF4-FFF2-40B4-BE49-F238E27FC236}">
                <a16:creationId xmlns:a16="http://schemas.microsoft.com/office/drawing/2014/main" id="{78894BA4-F09E-7B55-EABC-7505D73629D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A72B85D-A40B-0D50-431F-88102007E9D3}"/>
              </a:ext>
            </a:extLst>
          </p:cNvPr>
          <p:cNvGrpSpPr/>
          <p:nvPr/>
        </p:nvGrpSpPr>
        <p:grpSpPr>
          <a:xfrm>
            <a:off x="5334000" y="3519487"/>
            <a:ext cx="1524000" cy="1524000"/>
            <a:chOff x="7620000" y="3519487"/>
            <a:chExt cx="1524000" cy="1524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C2A5144-CAE9-6765-C2DE-F6CAC145C50A}"/>
                </a:ext>
              </a:extLst>
            </p:cNvPr>
            <p:cNvSpPr/>
            <p:nvPr/>
          </p:nvSpPr>
          <p:spPr>
            <a:xfrm>
              <a:off x="7620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EA58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078F151-2DB6-3F1D-FCEC-45C00D319EFB}"/>
                </a:ext>
              </a:extLst>
            </p:cNvPr>
            <p:cNvGrpSpPr/>
            <p:nvPr/>
          </p:nvGrpSpPr>
          <p:grpSpPr>
            <a:xfrm>
              <a:off x="7867650" y="3890962"/>
              <a:ext cx="1028700" cy="781050"/>
              <a:chOff x="7867650" y="3890962"/>
              <a:chExt cx="1028700" cy="781050"/>
            </a:xfrm>
          </p:grpSpPr>
          <p:pic>
            <p:nvPicPr>
              <p:cNvPr id="14" name="Picture 13" descr="image.png">
                <a:extLst>
                  <a:ext uri="{FF2B5EF4-FFF2-40B4-BE49-F238E27FC236}">
                    <a16:creationId xmlns:a16="http://schemas.microsoft.com/office/drawing/2014/main" id="{A8C73A32-DEA0-A6A6-740D-DD1E11974B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48650" y="3890962"/>
                <a:ext cx="266700" cy="3048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FC4F0FD-A093-6E1A-0B52-0452A22221F5}"/>
                  </a:ext>
                </a:extLst>
              </p:cNvPr>
              <p:cNvSpPr txBox="1"/>
              <p:nvPr/>
            </p:nvSpPr>
            <p:spPr>
              <a:xfrm>
                <a:off x="7867650" y="4271962"/>
                <a:ext cx="1028700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 err="1">
                    <a:solidFill>
                      <a:srgbClr val="0F172A"/>
                    </a:solidFill>
                    <a:latin typeface="Plus Jakarta Sans"/>
                  </a:rPr>
                  <a:t>Zetaris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 Execution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FAEF82-96FC-BFD8-8B2C-BAE12171484C}"/>
              </a:ext>
            </a:extLst>
          </p:cNvPr>
          <p:cNvGrpSpPr/>
          <p:nvPr/>
        </p:nvGrpSpPr>
        <p:grpSpPr>
          <a:xfrm>
            <a:off x="5334000" y="3519487"/>
            <a:ext cx="1524000" cy="1524000"/>
            <a:chOff x="5334000" y="3519487"/>
            <a:chExt cx="1524000" cy="152400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AFA900F-AED3-BE9A-08B5-405249ACBCF3}"/>
                </a:ext>
              </a:extLst>
            </p:cNvPr>
            <p:cNvSpPr/>
            <p:nvPr/>
          </p:nvSpPr>
          <p:spPr>
            <a:xfrm>
              <a:off x="5334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64E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7A529C4-F168-D25D-AD06-2F639F8309C9}"/>
                </a:ext>
              </a:extLst>
            </p:cNvPr>
            <p:cNvGrpSpPr/>
            <p:nvPr/>
          </p:nvGrpSpPr>
          <p:grpSpPr>
            <a:xfrm>
              <a:off x="5572125" y="3890962"/>
              <a:ext cx="1047750" cy="781050"/>
              <a:chOff x="5572125" y="3890962"/>
              <a:chExt cx="1047750" cy="781050"/>
            </a:xfrm>
          </p:grpSpPr>
          <p:pic>
            <p:nvPicPr>
              <p:cNvPr id="13" name="Picture 12" descr="image.png">
                <a:extLst>
                  <a:ext uri="{FF2B5EF4-FFF2-40B4-BE49-F238E27FC236}">
                    <a16:creationId xmlns:a16="http://schemas.microsoft.com/office/drawing/2014/main" id="{1D402F23-075E-93C9-3D70-436EA2290C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43600" y="3890962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9C2465-657B-DD19-E980-E67D85E0EA7C}"/>
                  </a:ext>
                </a:extLst>
              </p:cNvPr>
              <p:cNvSpPr txBox="1"/>
              <p:nvPr/>
            </p:nvSpPr>
            <p:spPr>
              <a:xfrm>
                <a:off x="5572125" y="4271962"/>
                <a:ext cx="1047750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 err="1">
                    <a:solidFill>
                      <a:srgbClr val="0F172A"/>
                    </a:solidFill>
                    <a:latin typeface="Plus Jakarta Sans"/>
                  </a:rPr>
                  <a:t>Nemotron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 Reasoning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57818B0-8336-21A3-CD07-10F545981978}"/>
              </a:ext>
            </a:extLst>
          </p:cNvPr>
          <p:cNvGrpSpPr/>
          <p:nvPr/>
        </p:nvGrpSpPr>
        <p:grpSpPr>
          <a:xfrm>
            <a:off x="3048000" y="3519487"/>
            <a:ext cx="1524000" cy="1524000"/>
            <a:chOff x="3048000" y="3519487"/>
            <a:chExt cx="1524000" cy="1524000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7362118-41DA-750D-8567-9883E38A4F3A}"/>
                </a:ext>
              </a:extLst>
            </p:cNvPr>
            <p:cNvSpPr/>
            <p:nvPr/>
          </p:nvSpPr>
          <p:spPr>
            <a:xfrm>
              <a:off x="3048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064E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03C4137-B005-F997-2442-548155F55CA3}"/>
                </a:ext>
              </a:extLst>
            </p:cNvPr>
            <p:cNvGrpSpPr/>
            <p:nvPr/>
          </p:nvGrpSpPr>
          <p:grpSpPr>
            <a:xfrm>
              <a:off x="3271837" y="3890962"/>
              <a:ext cx="1076325" cy="781050"/>
              <a:chOff x="3271837" y="3890962"/>
              <a:chExt cx="1076325" cy="781050"/>
            </a:xfrm>
          </p:grpSpPr>
          <p:pic>
            <p:nvPicPr>
              <p:cNvPr id="12" name="Picture 11" descr="image.png">
                <a:extLst>
                  <a:ext uri="{FF2B5EF4-FFF2-40B4-BE49-F238E27FC236}">
                    <a16:creationId xmlns:a16="http://schemas.microsoft.com/office/drawing/2014/main" id="{3C8427E3-9397-1033-0CEB-12FC390C03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19500" y="3890962"/>
                <a:ext cx="381000" cy="3048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3E36CE-C3CB-5469-95C9-FE85F4C3E516}"/>
                  </a:ext>
                </a:extLst>
              </p:cNvPr>
              <p:cNvSpPr txBox="1"/>
              <p:nvPr/>
            </p:nvSpPr>
            <p:spPr>
              <a:xfrm>
                <a:off x="3271837" y="4271962"/>
                <a:ext cx="1076325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Supervisor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 Agent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16032A8-B756-4293-97C1-88403C43B1E8}"/>
              </a:ext>
            </a:extLst>
          </p:cNvPr>
          <p:cNvGrpSpPr/>
          <p:nvPr/>
        </p:nvGrpSpPr>
        <p:grpSpPr>
          <a:xfrm>
            <a:off x="762000" y="3519487"/>
            <a:ext cx="1566862" cy="1524000"/>
            <a:chOff x="762000" y="3519487"/>
            <a:chExt cx="1566862" cy="15240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FB1C93E-DF59-80FB-314C-C280B3FC96D2}"/>
                </a:ext>
              </a:extLst>
            </p:cNvPr>
            <p:cNvSpPr/>
            <p:nvPr/>
          </p:nvSpPr>
          <p:spPr>
            <a:xfrm>
              <a:off x="762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64E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00D8EDA-15A4-6A0E-571D-071C498BBCD9}"/>
                </a:ext>
              </a:extLst>
            </p:cNvPr>
            <p:cNvGrpSpPr/>
            <p:nvPr/>
          </p:nvGrpSpPr>
          <p:grpSpPr>
            <a:xfrm>
              <a:off x="1004887" y="3990975"/>
              <a:ext cx="1323975" cy="581025"/>
              <a:chOff x="1004887" y="3990975"/>
              <a:chExt cx="1323975" cy="581025"/>
            </a:xfrm>
          </p:grpSpPr>
          <p:pic>
            <p:nvPicPr>
              <p:cNvPr id="11" name="Picture 10" descr="image.png">
                <a:extLst>
                  <a:ext uri="{FF2B5EF4-FFF2-40B4-BE49-F238E27FC236}">
                    <a16:creationId xmlns:a16="http://schemas.microsoft.com/office/drawing/2014/main" id="{895B1B17-FE89-151A-2D07-0DDFDDC82E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90650" y="3990975"/>
                <a:ext cx="266700" cy="304800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C89A89-9246-4769-7BFD-83559C915AF4}"/>
                  </a:ext>
                </a:extLst>
              </p:cNvPr>
              <p:cNvSpPr txBox="1"/>
              <p:nvPr/>
            </p:nvSpPr>
            <p:spPr>
              <a:xfrm>
                <a:off x="1004887" y="4371975"/>
                <a:ext cx="1323975" cy="2000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User Question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5436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Tm="1000">
        <p159:morph option="byObject"/>
      </p:transition>
    </mc:Choice>
    <mc:Fallback>
      <p:transition spd="med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AF6A-4CF9-980E-E086-58148F86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4;p13" descr="image.png">
            <a:extLst>
              <a:ext uri="{FF2B5EF4-FFF2-40B4-BE49-F238E27FC236}">
                <a16:creationId xmlns:a16="http://schemas.microsoft.com/office/drawing/2014/main" id="{A4428C31-C335-491B-00D3-B961FC9FB5DD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37A5742-4165-619B-90ED-F63778F21C58}"/>
              </a:ext>
            </a:extLst>
          </p:cNvPr>
          <p:cNvSpPr/>
          <p:nvPr/>
        </p:nvSpPr>
        <p:spPr>
          <a:xfrm>
            <a:off x="762000" y="1814512"/>
            <a:ext cx="135255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C7F6EE-FEA3-8383-4932-452E714278CF}"/>
              </a:ext>
            </a:extLst>
          </p:cNvPr>
          <p:cNvSpPr/>
          <p:nvPr/>
        </p:nvSpPr>
        <p:spPr>
          <a:xfrm>
            <a:off x="1295400" y="4281487"/>
            <a:ext cx="9601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1011D-30BC-AB15-803E-B7A58F231F84}"/>
              </a:ext>
            </a:extLst>
          </p:cNvPr>
          <p:cNvSpPr txBox="1"/>
          <p:nvPr/>
        </p:nvSpPr>
        <p:spPr>
          <a:xfrm>
            <a:off x="876300" y="1871662"/>
            <a:ext cx="121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HOW IT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E5374-5E0C-F485-613C-74EB8203BCE2}"/>
              </a:ext>
            </a:extLst>
          </p:cNvPr>
          <p:cNvSpPr txBox="1"/>
          <p:nvPr/>
        </p:nvSpPr>
        <p:spPr>
          <a:xfrm>
            <a:off x="762000" y="2328862"/>
            <a:ext cx="114300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4E3B"/>
                </a:solidFill>
                <a:latin typeface="Plus Jakarta Sans"/>
              </a:rPr>
              <a:t>Specialized agent coordination.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0DF7299-980F-A36A-6677-D9C382BB6685}"/>
              </a:ext>
            </a:extLst>
          </p:cNvPr>
          <p:cNvGrpSpPr/>
          <p:nvPr/>
        </p:nvGrpSpPr>
        <p:grpSpPr>
          <a:xfrm>
            <a:off x="7620000" y="3519487"/>
            <a:ext cx="1524000" cy="1524000"/>
            <a:chOff x="9906000" y="3519487"/>
            <a:chExt cx="1524000" cy="152400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BC2585C6-5B5E-B3A9-023A-3AF29087B434}"/>
                </a:ext>
              </a:extLst>
            </p:cNvPr>
            <p:cNvSpPr/>
            <p:nvPr/>
          </p:nvSpPr>
          <p:spPr>
            <a:xfrm>
              <a:off x="9906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064E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A63F415-BFCF-BC05-D050-D77628CDEF0A}"/>
                </a:ext>
              </a:extLst>
            </p:cNvPr>
            <p:cNvGrpSpPr/>
            <p:nvPr/>
          </p:nvGrpSpPr>
          <p:grpSpPr>
            <a:xfrm>
              <a:off x="10234612" y="3890962"/>
              <a:ext cx="866775" cy="781050"/>
              <a:chOff x="10234612" y="3890962"/>
              <a:chExt cx="866775" cy="781050"/>
            </a:xfrm>
          </p:grpSpPr>
          <p:pic>
            <p:nvPicPr>
              <p:cNvPr id="15" name="Picture 14" descr="image.png">
                <a:extLst>
                  <a:ext uri="{FF2B5EF4-FFF2-40B4-BE49-F238E27FC236}">
                    <a16:creationId xmlns:a16="http://schemas.microsoft.com/office/drawing/2014/main" id="{F21811F4-8679-FB72-DD58-979B9E5CE2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96550" y="3890962"/>
                <a:ext cx="342900" cy="3048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510320-3726-CA14-F3A5-2D16B764138A}"/>
                  </a:ext>
                </a:extLst>
              </p:cNvPr>
              <p:cNvSpPr txBox="1"/>
              <p:nvPr/>
            </p:nvSpPr>
            <p:spPr>
              <a:xfrm>
                <a:off x="10234612" y="4271962"/>
                <a:ext cx="866775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Verified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 Answer</a:t>
                </a:r>
              </a:p>
            </p:txBody>
          </p:sp>
        </p:grpSp>
      </p:grpSp>
      <p:pic>
        <p:nvPicPr>
          <p:cNvPr id="24" name="Google Shape;85;p13" descr="image.png">
            <a:extLst>
              <a:ext uri="{FF2B5EF4-FFF2-40B4-BE49-F238E27FC236}">
                <a16:creationId xmlns:a16="http://schemas.microsoft.com/office/drawing/2014/main" id="{59D43485-69AD-E6B2-41D0-E647DFFC9E9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FCF095A-3AC4-60CA-172C-02C49E930579}"/>
              </a:ext>
            </a:extLst>
          </p:cNvPr>
          <p:cNvGrpSpPr/>
          <p:nvPr/>
        </p:nvGrpSpPr>
        <p:grpSpPr>
          <a:xfrm>
            <a:off x="7620000" y="3519487"/>
            <a:ext cx="1524000" cy="1524000"/>
            <a:chOff x="7620000" y="3519487"/>
            <a:chExt cx="1524000" cy="1524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8BF0FB3-F8B4-EBA6-3849-17C5EEF1E427}"/>
                </a:ext>
              </a:extLst>
            </p:cNvPr>
            <p:cNvSpPr/>
            <p:nvPr/>
          </p:nvSpPr>
          <p:spPr>
            <a:xfrm>
              <a:off x="7620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EA58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6D5F92-DE34-8E69-BD33-446F115F0B63}"/>
                </a:ext>
              </a:extLst>
            </p:cNvPr>
            <p:cNvGrpSpPr/>
            <p:nvPr/>
          </p:nvGrpSpPr>
          <p:grpSpPr>
            <a:xfrm>
              <a:off x="7867650" y="3890962"/>
              <a:ext cx="1028700" cy="781050"/>
              <a:chOff x="7867650" y="3890962"/>
              <a:chExt cx="1028700" cy="781050"/>
            </a:xfrm>
          </p:grpSpPr>
          <p:pic>
            <p:nvPicPr>
              <p:cNvPr id="14" name="Picture 13" descr="image.png">
                <a:extLst>
                  <a:ext uri="{FF2B5EF4-FFF2-40B4-BE49-F238E27FC236}">
                    <a16:creationId xmlns:a16="http://schemas.microsoft.com/office/drawing/2014/main" id="{81583DEB-4E92-5E8E-C76A-4C269FB24B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48650" y="3890962"/>
                <a:ext cx="266700" cy="3048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C6776A-E3B9-794C-F94D-11E8431847BB}"/>
                  </a:ext>
                </a:extLst>
              </p:cNvPr>
              <p:cNvSpPr txBox="1"/>
              <p:nvPr/>
            </p:nvSpPr>
            <p:spPr>
              <a:xfrm>
                <a:off x="7867650" y="4271962"/>
                <a:ext cx="1028700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 err="1">
                    <a:solidFill>
                      <a:srgbClr val="0F172A"/>
                    </a:solidFill>
                    <a:latin typeface="Plus Jakarta Sans"/>
                  </a:rPr>
                  <a:t>Zetaris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 Execution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A1D5A8-A9F7-B14B-DA1A-566A94D1988B}"/>
              </a:ext>
            </a:extLst>
          </p:cNvPr>
          <p:cNvGrpSpPr/>
          <p:nvPr/>
        </p:nvGrpSpPr>
        <p:grpSpPr>
          <a:xfrm>
            <a:off x="5334000" y="3519487"/>
            <a:ext cx="1524000" cy="1524000"/>
            <a:chOff x="5334000" y="3519487"/>
            <a:chExt cx="1524000" cy="152400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B5492DE-8C90-A46A-C7EE-DFC6A295AF17}"/>
                </a:ext>
              </a:extLst>
            </p:cNvPr>
            <p:cNvSpPr/>
            <p:nvPr/>
          </p:nvSpPr>
          <p:spPr>
            <a:xfrm>
              <a:off x="5334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64E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5CB9353-6F9A-A985-6AD6-6B3624A2BD1A}"/>
                </a:ext>
              </a:extLst>
            </p:cNvPr>
            <p:cNvGrpSpPr/>
            <p:nvPr/>
          </p:nvGrpSpPr>
          <p:grpSpPr>
            <a:xfrm>
              <a:off x="5572125" y="3890962"/>
              <a:ext cx="1047750" cy="781050"/>
              <a:chOff x="5572125" y="3890962"/>
              <a:chExt cx="1047750" cy="781050"/>
            </a:xfrm>
          </p:grpSpPr>
          <p:pic>
            <p:nvPicPr>
              <p:cNvPr id="13" name="Picture 12" descr="image.png">
                <a:extLst>
                  <a:ext uri="{FF2B5EF4-FFF2-40B4-BE49-F238E27FC236}">
                    <a16:creationId xmlns:a16="http://schemas.microsoft.com/office/drawing/2014/main" id="{4230DD5C-843F-46A1-05D2-D1D2B6E56F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43600" y="3890962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961B81-5C18-9D3B-65A5-127FA00A57ED}"/>
                  </a:ext>
                </a:extLst>
              </p:cNvPr>
              <p:cNvSpPr txBox="1"/>
              <p:nvPr/>
            </p:nvSpPr>
            <p:spPr>
              <a:xfrm>
                <a:off x="5572125" y="4271962"/>
                <a:ext cx="1047750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 err="1">
                    <a:solidFill>
                      <a:srgbClr val="0F172A"/>
                    </a:solidFill>
                    <a:latin typeface="Plus Jakarta Sans"/>
                  </a:rPr>
                  <a:t>Nemotron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 Reasoning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9B41B5E-57A6-A0D8-B568-AEAC69B6F83B}"/>
              </a:ext>
            </a:extLst>
          </p:cNvPr>
          <p:cNvGrpSpPr/>
          <p:nvPr/>
        </p:nvGrpSpPr>
        <p:grpSpPr>
          <a:xfrm>
            <a:off x="3048000" y="3519487"/>
            <a:ext cx="1524000" cy="1524000"/>
            <a:chOff x="3048000" y="3519487"/>
            <a:chExt cx="1524000" cy="1524000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1E20B1B7-E4AE-E2C9-49B7-8F566278E0D1}"/>
                </a:ext>
              </a:extLst>
            </p:cNvPr>
            <p:cNvSpPr/>
            <p:nvPr/>
          </p:nvSpPr>
          <p:spPr>
            <a:xfrm>
              <a:off x="3048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064E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4C16BED-5579-7482-716C-F1D1DD969A8A}"/>
                </a:ext>
              </a:extLst>
            </p:cNvPr>
            <p:cNvGrpSpPr/>
            <p:nvPr/>
          </p:nvGrpSpPr>
          <p:grpSpPr>
            <a:xfrm>
              <a:off x="3271837" y="3890962"/>
              <a:ext cx="1076325" cy="781050"/>
              <a:chOff x="3271837" y="3890962"/>
              <a:chExt cx="1076325" cy="781050"/>
            </a:xfrm>
          </p:grpSpPr>
          <p:pic>
            <p:nvPicPr>
              <p:cNvPr id="12" name="Picture 11" descr="image.png">
                <a:extLst>
                  <a:ext uri="{FF2B5EF4-FFF2-40B4-BE49-F238E27FC236}">
                    <a16:creationId xmlns:a16="http://schemas.microsoft.com/office/drawing/2014/main" id="{48D4824B-DE07-E62B-0971-AA06D1BEE0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19500" y="3890962"/>
                <a:ext cx="381000" cy="3048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A61362-07F3-BFAD-F749-B8B835343B7D}"/>
                  </a:ext>
                </a:extLst>
              </p:cNvPr>
              <p:cNvSpPr txBox="1"/>
              <p:nvPr/>
            </p:nvSpPr>
            <p:spPr>
              <a:xfrm>
                <a:off x="3271837" y="4271962"/>
                <a:ext cx="1076325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Supervisor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 Agent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089D35-3F0A-1924-8EA6-39BB93EBE42F}"/>
              </a:ext>
            </a:extLst>
          </p:cNvPr>
          <p:cNvGrpSpPr/>
          <p:nvPr/>
        </p:nvGrpSpPr>
        <p:grpSpPr>
          <a:xfrm>
            <a:off x="762000" y="3519487"/>
            <a:ext cx="1566862" cy="1524000"/>
            <a:chOff x="762000" y="3519487"/>
            <a:chExt cx="1566862" cy="15240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0FCE5B7-AACA-B612-2F74-F8A2D7F6637E}"/>
                </a:ext>
              </a:extLst>
            </p:cNvPr>
            <p:cNvSpPr/>
            <p:nvPr/>
          </p:nvSpPr>
          <p:spPr>
            <a:xfrm>
              <a:off x="762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64E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BFCBEFA-84E6-0A26-247D-B63FFF03E821}"/>
                </a:ext>
              </a:extLst>
            </p:cNvPr>
            <p:cNvGrpSpPr/>
            <p:nvPr/>
          </p:nvGrpSpPr>
          <p:grpSpPr>
            <a:xfrm>
              <a:off x="1004887" y="3990975"/>
              <a:ext cx="1323975" cy="581025"/>
              <a:chOff x="1004887" y="3990975"/>
              <a:chExt cx="1323975" cy="581025"/>
            </a:xfrm>
          </p:grpSpPr>
          <p:pic>
            <p:nvPicPr>
              <p:cNvPr id="11" name="Picture 10" descr="image.png">
                <a:extLst>
                  <a:ext uri="{FF2B5EF4-FFF2-40B4-BE49-F238E27FC236}">
                    <a16:creationId xmlns:a16="http://schemas.microsoft.com/office/drawing/2014/main" id="{518098BF-851A-E2E7-E750-BFDF3E81EC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90650" y="3990975"/>
                <a:ext cx="266700" cy="304800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A0FAC3-25F5-FCF6-2F35-A2FFA0362F96}"/>
                  </a:ext>
                </a:extLst>
              </p:cNvPr>
              <p:cNvSpPr txBox="1"/>
              <p:nvPr/>
            </p:nvSpPr>
            <p:spPr>
              <a:xfrm>
                <a:off x="1004887" y="4371975"/>
                <a:ext cx="1323975" cy="2000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User Question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92979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Tm="1000">
        <p159:morph option="byObject"/>
      </p:transition>
    </mc:Choice>
    <mc:Fallback>
      <p:transition spd="med"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E8413-AEC5-0492-827A-429B07AD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4;p13" descr="image.png">
            <a:extLst>
              <a:ext uri="{FF2B5EF4-FFF2-40B4-BE49-F238E27FC236}">
                <a16:creationId xmlns:a16="http://schemas.microsoft.com/office/drawing/2014/main" id="{04966A77-31A7-1EB5-EDA6-75860E087DD6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0C3D4EE-BE8B-4C87-CF83-49DB6BE16180}"/>
              </a:ext>
            </a:extLst>
          </p:cNvPr>
          <p:cNvSpPr/>
          <p:nvPr/>
        </p:nvSpPr>
        <p:spPr>
          <a:xfrm>
            <a:off x="762000" y="1814512"/>
            <a:ext cx="135255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2B154-5FAE-5E83-E687-0D7904C70A1E}"/>
              </a:ext>
            </a:extLst>
          </p:cNvPr>
          <p:cNvSpPr/>
          <p:nvPr/>
        </p:nvSpPr>
        <p:spPr>
          <a:xfrm>
            <a:off x="1295400" y="4281487"/>
            <a:ext cx="9601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2081D7-17AD-CF74-CD8B-48FAC79A74EA}"/>
              </a:ext>
            </a:extLst>
          </p:cNvPr>
          <p:cNvSpPr txBox="1"/>
          <p:nvPr/>
        </p:nvSpPr>
        <p:spPr>
          <a:xfrm>
            <a:off x="876300" y="1871662"/>
            <a:ext cx="121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HOW IT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2C5D5-C514-4121-35E3-B14BCB37718E}"/>
              </a:ext>
            </a:extLst>
          </p:cNvPr>
          <p:cNvSpPr txBox="1"/>
          <p:nvPr/>
        </p:nvSpPr>
        <p:spPr>
          <a:xfrm>
            <a:off x="762000" y="2328862"/>
            <a:ext cx="114300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4E3B"/>
                </a:solidFill>
                <a:latin typeface="Plus Jakarta Sans"/>
              </a:rPr>
              <a:t>Specialized agent coordination.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E7F9FD-35E1-8305-6A1B-41345F2F4A66}"/>
              </a:ext>
            </a:extLst>
          </p:cNvPr>
          <p:cNvGrpSpPr/>
          <p:nvPr/>
        </p:nvGrpSpPr>
        <p:grpSpPr>
          <a:xfrm>
            <a:off x="9906000" y="3519487"/>
            <a:ext cx="1524000" cy="1524000"/>
            <a:chOff x="9906000" y="3519487"/>
            <a:chExt cx="1524000" cy="152400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F43CBFC-4953-9CBD-03B0-CFB6F73DEF2C}"/>
                </a:ext>
              </a:extLst>
            </p:cNvPr>
            <p:cNvSpPr/>
            <p:nvPr/>
          </p:nvSpPr>
          <p:spPr>
            <a:xfrm>
              <a:off x="9906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064E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682B1A7-107B-D45F-FC37-954D076AFA90}"/>
                </a:ext>
              </a:extLst>
            </p:cNvPr>
            <p:cNvGrpSpPr/>
            <p:nvPr/>
          </p:nvGrpSpPr>
          <p:grpSpPr>
            <a:xfrm>
              <a:off x="10234612" y="3890962"/>
              <a:ext cx="866775" cy="781050"/>
              <a:chOff x="10234612" y="3890962"/>
              <a:chExt cx="866775" cy="781050"/>
            </a:xfrm>
          </p:grpSpPr>
          <p:pic>
            <p:nvPicPr>
              <p:cNvPr id="15" name="Picture 14" descr="image.png">
                <a:extLst>
                  <a:ext uri="{FF2B5EF4-FFF2-40B4-BE49-F238E27FC236}">
                    <a16:creationId xmlns:a16="http://schemas.microsoft.com/office/drawing/2014/main" id="{C614A1F0-231A-B47A-7FA2-2E0232F4F6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96550" y="3890962"/>
                <a:ext cx="342900" cy="3048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B155E3A-6882-A930-29BA-2A97B81D1568}"/>
                  </a:ext>
                </a:extLst>
              </p:cNvPr>
              <p:cNvSpPr txBox="1"/>
              <p:nvPr/>
            </p:nvSpPr>
            <p:spPr>
              <a:xfrm>
                <a:off x="10234612" y="4271962"/>
                <a:ext cx="866775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Verified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 Answer</a:t>
                </a:r>
              </a:p>
            </p:txBody>
          </p:sp>
        </p:grpSp>
      </p:grpSp>
      <p:pic>
        <p:nvPicPr>
          <p:cNvPr id="24" name="Google Shape;85;p13" descr="image.png">
            <a:extLst>
              <a:ext uri="{FF2B5EF4-FFF2-40B4-BE49-F238E27FC236}">
                <a16:creationId xmlns:a16="http://schemas.microsoft.com/office/drawing/2014/main" id="{1BC3B7DC-28B7-ED67-0891-CAF407618B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BF86B77-36B6-61E8-B4CC-33A95E3F32DE}"/>
              </a:ext>
            </a:extLst>
          </p:cNvPr>
          <p:cNvGrpSpPr/>
          <p:nvPr/>
        </p:nvGrpSpPr>
        <p:grpSpPr>
          <a:xfrm>
            <a:off x="7620000" y="3519487"/>
            <a:ext cx="1524000" cy="1524000"/>
            <a:chOff x="7620000" y="3519487"/>
            <a:chExt cx="1524000" cy="1524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D9C41DC-B3DA-6335-AD4F-610F4139A184}"/>
                </a:ext>
              </a:extLst>
            </p:cNvPr>
            <p:cNvSpPr/>
            <p:nvPr/>
          </p:nvSpPr>
          <p:spPr>
            <a:xfrm>
              <a:off x="7620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EA58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32F0175-145E-CAD9-4BA6-2A97CFA579D8}"/>
                </a:ext>
              </a:extLst>
            </p:cNvPr>
            <p:cNvGrpSpPr/>
            <p:nvPr/>
          </p:nvGrpSpPr>
          <p:grpSpPr>
            <a:xfrm>
              <a:off x="7867650" y="3890962"/>
              <a:ext cx="1028700" cy="781050"/>
              <a:chOff x="7867650" y="3890962"/>
              <a:chExt cx="1028700" cy="781050"/>
            </a:xfrm>
          </p:grpSpPr>
          <p:pic>
            <p:nvPicPr>
              <p:cNvPr id="14" name="Picture 13" descr="image.png">
                <a:extLst>
                  <a:ext uri="{FF2B5EF4-FFF2-40B4-BE49-F238E27FC236}">
                    <a16:creationId xmlns:a16="http://schemas.microsoft.com/office/drawing/2014/main" id="{654F0C59-1013-0175-94C6-4FF375C5E4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48650" y="3890962"/>
                <a:ext cx="266700" cy="3048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177C85-CECE-E9F3-EFEB-1D66FD30BFDE}"/>
                  </a:ext>
                </a:extLst>
              </p:cNvPr>
              <p:cNvSpPr txBox="1"/>
              <p:nvPr/>
            </p:nvSpPr>
            <p:spPr>
              <a:xfrm>
                <a:off x="7867650" y="4271962"/>
                <a:ext cx="1028700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 err="1">
                    <a:solidFill>
                      <a:srgbClr val="0F172A"/>
                    </a:solidFill>
                    <a:latin typeface="Plus Jakarta Sans"/>
                  </a:rPr>
                  <a:t>Zetaris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 Execution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9213616-ADBE-331D-90CA-E984BA796055}"/>
              </a:ext>
            </a:extLst>
          </p:cNvPr>
          <p:cNvGrpSpPr/>
          <p:nvPr/>
        </p:nvGrpSpPr>
        <p:grpSpPr>
          <a:xfrm>
            <a:off x="5334000" y="3519487"/>
            <a:ext cx="1524000" cy="1524000"/>
            <a:chOff x="5334000" y="3519487"/>
            <a:chExt cx="1524000" cy="152400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0528B76-6B9D-8EEC-27B4-208A7DE7F202}"/>
                </a:ext>
              </a:extLst>
            </p:cNvPr>
            <p:cNvSpPr/>
            <p:nvPr/>
          </p:nvSpPr>
          <p:spPr>
            <a:xfrm>
              <a:off x="5334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64E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AF46432-0F12-AF8D-4CD8-C47C4AF6D799}"/>
                </a:ext>
              </a:extLst>
            </p:cNvPr>
            <p:cNvGrpSpPr/>
            <p:nvPr/>
          </p:nvGrpSpPr>
          <p:grpSpPr>
            <a:xfrm>
              <a:off x="5572125" y="3890962"/>
              <a:ext cx="1047750" cy="781050"/>
              <a:chOff x="5572125" y="3890962"/>
              <a:chExt cx="1047750" cy="781050"/>
            </a:xfrm>
          </p:grpSpPr>
          <p:pic>
            <p:nvPicPr>
              <p:cNvPr id="13" name="Picture 12" descr="image.png">
                <a:extLst>
                  <a:ext uri="{FF2B5EF4-FFF2-40B4-BE49-F238E27FC236}">
                    <a16:creationId xmlns:a16="http://schemas.microsoft.com/office/drawing/2014/main" id="{D4BB3038-A266-7A86-E453-8199FEA1A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43600" y="3890962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74BEB8-856B-AE33-A8D9-A1B053B844BD}"/>
                  </a:ext>
                </a:extLst>
              </p:cNvPr>
              <p:cNvSpPr txBox="1"/>
              <p:nvPr/>
            </p:nvSpPr>
            <p:spPr>
              <a:xfrm>
                <a:off x="5572125" y="4271962"/>
                <a:ext cx="1047750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 err="1">
                    <a:solidFill>
                      <a:srgbClr val="0F172A"/>
                    </a:solidFill>
                    <a:latin typeface="Plus Jakarta Sans"/>
                  </a:rPr>
                  <a:t>Nemotron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 Reasoning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278A2B5-E138-0A51-9122-32EA2DE734B2}"/>
              </a:ext>
            </a:extLst>
          </p:cNvPr>
          <p:cNvGrpSpPr/>
          <p:nvPr/>
        </p:nvGrpSpPr>
        <p:grpSpPr>
          <a:xfrm>
            <a:off x="3048000" y="3519487"/>
            <a:ext cx="1524000" cy="1524000"/>
            <a:chOff x="3048000" y="3519487"/>
            <a:chExt cx="1524000" cy="1524000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A1A002F-45FF-08A4-187A-405A0F0AC594}"/>
                </a:ext>
              </a:extLst>
            </p:cNvPr>
            <p:cNvSpPr/>
            <p:nvPr/>
          </p:nvSpPr>
          <p:spPr>
            <a:xfrm>
              <a:off x="3048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064E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A675DA2-53AE-B5BA-4F29-5E05024D5312}"/>
                </a:ext>
              </a:extLst>
            </p:cNvPr>
            <p:cNvGrpSpPr/>
            <p:nvPr/>
          </p:nvGrpSpPr>
          <p:grpSpPr>
            <a:xfrm>
              <a:off x="3271837" y="3890962"/>
              <a:ext cx="1076325" cy="781050"/>
              <a:chOff x="3271837" y="3890962"/>
              <a:chExt cx="1076325" cy="781050"/>
            </a:xfrm>
          </p:grpSpPr>
          <p:pic>
            <p:nvPicPr>
              <p:cNvPr id="12" name="Picture 11" descr="image.png">
                <a:extLst>
                  <a:ext uri="{FF2B5EF4-FFF2-40B4-BE49-F238E27FC236}">
                    <a16:creationId xmlns:a16="http://schemas.microsoft.com/office/drawing/2014/main" id="{EE001FF0-62CF-137F-2803-4745401446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19500" y="3890962"/>
                <a:ext cx="381000" cy="3048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644356-A625-E766-BE5F-B63D37F883CD}"/>
                  </a:ext>
                </a:extLst>
              </p:cNvPr>
              <p:cNvSpPr txBox="1"/>
              <p:nvPr/>
            </p:nvSpPr>
            <p:spPr>
              <a:xfrm>
                <a:off x="3271837" y="4271962"/>
                <a:ext cx="1076325" cy="400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Supervisor</a:t>
                </a:r>
                <a:r>
                  <a:rPr dirty="0"/>
                  <a:t>
</a:t>
                </a:r>
                <a:r>
                  <a:rPr sz="1200" b="1" i="0" u="none" dirty="0">
                    <a:solidFill>
                      <a:srgbClr val="FFFFFF"/>
                    </a:solidFill>
                    <a:latin typeface="Plus Jakarta Sans"/>
                  </a:rPr>
                  <a:t> Agent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218BC87-9FFF-5994-9294-5459193B4C59}"/>
              </a:ext>
            </a:extLst>
          </p:cNvPr>
          <p:cNvGrpSpPr/>
          <p:nvPr/>
        </p:nvGrpSpPr>
        <p:grpSpPr>
          <a:xfrm>
            <a:off x="762000" y="3519487"/>
            <a:ext cx="1566862" cy="1524000"/>
            <a:chOff x="762000" y="3519487"/>
            <a:chExt cx="1566862" cy="15240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591E071-CA88-8B38-2137-440E1D86454C}"/>
                </a:ext>
              </a:extLst>
            </p:cNvPr>
            <p:cNvSpPr/>
            <p:nvPr/>
          </p:nvSpPr>
          <p:spPr>
            <a:xfrm>
              <a:off x="762000" y="3519487"/>
              <a:ext cx="1524000" cy="1524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64E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75A88F7-BDCD-FA68-FC34-D678D19D6C2A}"/>
                </a:ext>
              </a:extLst>
            </p:cNvPr>
            <p:cNvGrpSpPr/>
            <p:nvPr/>
          </p:nvGrpSpPr>
          <p:grpSpPr>
            <a:xfrm>
              <a:off x="1004887" y="3990975"/>
              <a:ext cx="1323975" cy="581025"/>
              <a:chOff x="1004887" y="3990975"/>
              <a:chExt cx="1323975" cy="581025"/>
            </a:xfrm>
          </p:grpSpPr>
          <p:pic>
            <p:nvPicPr>
              <p:cNvPr id="11" name="Picture 10" descr="image.png">
                <a:extLst>
                  <a:ext uri="{FF2B5EF4-FFF2-40B4-BE49-F238E27FC236}">
                    <a16:creationId xmlns:a16="http://schemas.microsoft.com/office/drawing/2014/main" id="{8A9E5211-BBC4-45DF-9DD5-7719275DDB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90650" y="3990975"/>
                <a:ext cx="266700" cy="304800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A07886-DEF5-1D4A-0C94-3981327F99D0}"/>
                  </a:ext>
                </a:extLst>
              </p:cNvPr>
              <p:cNvSpPr txBox="1"/>
              <p:nvPr/>
            </p:nvSpPr>
            <p:spPr>
              <a:xfrm>
                <a:off x="1004887" y="4371975"/>
                <a:ext cx="1323975" cy="2000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0F172A"/>
                    </a:solidFill>
                    <a:latin typeface="Plus Jakarta Sans"/>
                  </a:rPr>
                  <a:t>User Question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6226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Tm="1000">
        <p159:morph option="byObject"/>
      </p:transition>
    </mc:Choice>
    <mc:Fallback>
      <p:transition spd="med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84;p13" descr="image.png">
            <a:extLst>
              <a:ext uri="{FF2B5EF4-FFF2-40B4-BE49-F238E27FC236}">
                <a16:creationId xmlns:a16="http://schemas.microsoft.com/office/drawing/2014/main" id="{78506CA3-A5F9-EB90-2445-BF14A639A0A2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762000" y="1590675"/>
            <a:ext cx="1400175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219450"/>
            <a:ext cx="10668000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86475" y="3862387"/>
            <a:ext cx="19050" cy="76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6300" y="1647825"/>
            <a:ext cx="12668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MARKET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81225"/>
            <a:ext cx="114300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64E3B"/>
                </a:solidFill>
                <a:latin typeface="Plus Jakarta Sans"/>
              </a:rPr>
              <a:t>The $41.9B Agentic Shift.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990" y="3676650"/>
            <a:ext cx="5322093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Plus Jakarta Sans"/>
              </a:rPr>
              <a:t>91%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990" y="4591050"/>
            <a:ext cx="53220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75569"/>
                </a:solidFill>
                <a:latin typeface="Plus Jakarta Sans"/>
              </a:rPr>
              <a:t>Demand agentic AI capabilities.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2915" y="3676650"/>
            <a:ext cx="5322093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EA580C"/>
                </a:solidFill>
                <a:latin typeface="Plus Jakarta Sans"/>
              </a:rPr>
              <a:t>37%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2915" y="4591050"/>
            <a:ext cx="53220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75569"/>
                </a:solidFill>
                <a:latin typeface="Plus Jakarta Sans"/>
              </a:rPr>
              <a:t>Actively scaling agentic AI.</a:t>
            </a:r>
          </a:p>
        </p:txBody>
      </p:sp>
      <p:pic>
        <p:nvPicPr>
          <p:cNvPr id="14" name="Google Shape;85;p13" descr="image.png">
            <a:extLst>
              <a:ext uri="{FF2B5EF4-FFF2-40B4-BE49-F238E27FC236}">
                <a16:creationId xmlns:a16="http://schemas.microsoft.com/office/drawing/2014/main" id="{62FD8DF5-D553-2B72-D3C4-0E6D0FB3E4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84;p13" descr="image.png">
            <a:extLst>
              <a:ext uri="{FF2B5EF4-FFF2-40B4-BE49-F238E27FC236}">
                <a16:creationId xmlns:a16="http://schemas.microsoft.com/office/drawing/2014/main" id="{DA758179-0BBD-01EC-02C8-9DD151A9BD4D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762000" y="1538287"/>
            <a:ext cx="198120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243262"/>
            <a:ext cx="335280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19600" y="3243262"/>
            <a:ext cx="335280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243262"/>
            <a:ext cx="335280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243262"/>
            <a:ext cx="3352800" cy="38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419600" y="3243262"/>
            <a:ext cx="3352800" cy="381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77200" y="3243262"/>
            <a:ext cx="3352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300" y="1595437"/>
            <a:ext cx="18478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SPONSOR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52637"/>
            <a:ext cx="114300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Uncompromising 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62362"/>
            <a:ext cx="3400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NVIDIA Nemotron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62412"/>
            <a:ext cx="268605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Complex reasoning, task planning, and schema discovery via OpenAI-compatible adapter.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662362"/>
            <a:ext cx="3400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Zetaris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062412"/>
            <a:ext cx="26860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Supplies facts through high-velocity analytical query execution on federated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662362"/>
            <a:ext cx="3400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Meterless &amp;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062412"/>
            <a:ext cx="26860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Secure runtime routing and explicit user-approval pauses for data modification.</a:t>
            </a:r>
          </a:p>
        </p:txBody>
      </p:sp>
      <p:pic>
        <p:nvPicPr>
          <p:cNvPr id="20" name="Google Shape;85;p13" descr="image.png">
            <a:extLst>
              <a:ext uri="{FF2B5EF4-FFF2-40B4-BE49-F238E27FC236}">
                <a16:creationId xmlns:a16="http://schemas.microsoft.com/office/drawing/2014/main" id="{087F9AD2-4F04-0748-19FF-839009A07B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84;p13" descr="image.png">
            <a:extLst>
              <a:ext uri="{FF2B5EF4-FFF2-40B4-BE49-F238E27FC236}">
                <a16:creationId xmlns:a16="http://schemas.microsoft.com/office/drawing/2014/main" id="{A881ADCF-13AD-3C18-08E9-8AE20F016ED5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609600" y="146685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Google Shape;85;p13" descr="image.png">
            <a:extLst>
              <a:ext uri="{FF2B5EF4-FFF2-40B4-BE49-F238E27FC236}">
                <a16:creationId xmlns:a16="http://schemas.microsoft.com/office/drawing/2014/main" id="{D90DB019-C18C-2BC5-2C93-7BAAF4937C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932" y="609600"/>
            <a:ext cx="5744467" cy="563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1524000"/>
            <a:ext cx="1600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Plus Jakarta Sans"/>
              </a:rPr>
              <a:t>ROADMAP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81200"/>
            <a:ext cx="5109701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Plus Jakarta Sans"/>
              </a:rPr>
              <a:t>Measuring confidence, not just AI usage.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57550"/>
            <a:ext cx="62621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Plus Jakarta Sans"/>
              </a:rPr>
              <a:t>PRIMARY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52825"/>
            <a:ext cx="596391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1. Answer 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57625"/>
            <a:ext cx="596391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2. Evidence 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62425"/>
            <a:ext cx="596391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3. Sub-second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57725"/>
            <a:ext cx="62621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4E3B"/>
                </a:solidFill>
                <a:latin typeface="Plus Jakarta Sans"/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953000"/>
            <a:ext cx="486638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Voice input, automated data profiling, and expanded audit agents.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7457" y="619125"/>
            <a:ext cx="5725417" cy="5619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EDA66C32-42B3-CEF3-0A0A-E639CD6F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4;p13" descr="image.png">
            <a:extLst>
              <a:ext uri="{FF2B5EF4-FFF2-40B4-BE49-F238E27FC236}">
                <a16:creationId xmlns:a16="http://schemas.microsoft.com/office/drawing/2014/main" id="{D8E4C7DF-A490-C72F-7E5F-5822505EF4FA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;p13" descr="image.png">
            <a:extLst>
              <a:ext uri="{FF2B5EF4-FFF2-40B4-BE49-F238E27FC236}">
                <a16:creationId xmlns:a16="http://schemas.microsoft.com/office/drawing/2014/main" id="{55F8BD2F-9D9C-2350-A9A9-2DE4D79B53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0996CE9E-B117-DD74-E14C-F4C195995239}"/>
              </a:ext>
            </a:extLst>
          </p:cNvPr>
          <p:cNvSpPr/>
          <p:nvPr/>
        </p:nvSpPr>
        <p:spPr>
          <a:xfrm>
            <a:off x="609600" y="146685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457BB-94C0-7B7C-F397-B49F1DEAC2A2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rcRect l="23961" t="11295" r="10579" b="37157"/>
          <a:stretch>
            <a:fillRect/>
          </a:stretch>
        </p:blipFill>
        <p:spPr>
          <a:xfrm flipH="1">
            <a:off x="4785506" y="2038187"/>
            <a:ext cx="2620987" cy="2752058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4A0EB4-1327-F11B-BC13-250EA308F2F5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rcRect l="864" t="1093" r="11843" b="32135"/>
          <a:stretch>
            <a:fillRect/>
          </a:stretch>
        </p:blipFill>
        <p:spPr>
          <a:xfrm>
            <a:off x="4752838" y="2092447"/>
            <a:ext cx="2620986" cy="2673107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6D63EB-11D3-8BCE-FE44-C4D598ED4F2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28195" t="22410" r="10983" b="30950"/>
          <a:stretch>
            <a:fillRect/>
          </a:stretch>
        </p:blipFill>
        <p:spPr>
          <a:xfrm flipH="1">
            <a:off x="4812289" y="2275065"/>
            <a:ext cx="2459940" cy="2515180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C1F0F3-1C89-0984-23C5-52099367A12F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19397" t="39050" r="26562" b="19310"/>
          <a:stretch>
            <a:fillRect/>
          </a:stretch>
        </p:blipFill>
        <p:spPr>
          <a:xfrm flipH="1">
            <a:off x="4818177" y="2275065"/>
            <a:ext cx="2448164" cy="2515180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D18ADD-0C39-BB5C-78F7-0FF074AC78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8097" t="6505" r="13621" b="50000"/>
          <a:stretch>
            <a:fillRect/>
          </a:stretch>
        </p:blipFill>
        <p:spPr>
          <a:xfrm>
            <a:off x="4713167" y="2052971"/>
            <a:ext cx="2765666" cy="2752058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894FD5-56A6-45B3-45F7-DB01376AF511}"/>
              </a:ext>
            </a:extLst>
          </p:cNvPr>
          <p:cNvSpPr txBox="1"/>
          <p:nvPr/>
        </p:nvSpPr>
        <p:spPr>
          <a:xfrm>
            <a:off x="721024" y="1528933"/>
            <a:ext cx="1600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1050" b="1" dirty="0">
                <a:solidFill>
                  <a:srgbClr val="FFFFFF"/>
                </a:solidFill>
                <a:latin typeface="Plus Jakarta Sans"/>
              </a:rPr>
              <a:t>The TEAM</a:t>
            </a:r>
            <a:endParaRPr sz="1050" b="1" i="0" u="none" dirty="0">
              <a:solidFill>
                <a:srgbClr val="FFFFFF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274513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10">
        <p159:morph option="byObject"/>
      </p:transition>
    </mc:Choice>
    <mc:Fallback>
      <p:transition spd="med" advClick="0" advTm="1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4;p13" descr="image.png">
            <a:extLst>
              <a:ext uri="{FF2B5EF4-FFF2-40B4-BE49-F238E27FC236}">
                <a16:creationId xmlns:a16="http://schemas.microsoft.com/office/drawing/2014/main" id="{E459BC5E-55A1-CC8A-D3E4-0E4331FD34E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;p13" descr="image.png">
            <a:extLst>
              <a:ext uri="{FF2B5EF4-FFF2-40B4-BE49-F238E27FC236}">
                <a16:creationId xmlns:a16="http://schemas.microsoft.com/office/drawing/2014/main" id="{14B5CE05-3044-4A35-8305-C16EE15C2BD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B4B2CA4C-90A5-032A-EE46-3ACFA5B0FCD7}"/>
              </a:ext>
            </a:extLst>
          </p:cNvPr>
          <p:cNvSpPr/>
          <p:nvPr/>
        </p:nvSpPr>
        <p:spPr>
          <a:xfrm>
            <a:off x="609600" y="1466850"/>
            <a:ext cx="1733550" cy="28575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445731-28B8-CF46-8617-657F12209BA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rcRect l="23961" t="11295" r="10579" b="37157"/>
          <a:stretch>
            <a:fillRect/>
          </a:stretch>
        </p:blipFill>
        <p:spPr>
          <a:xfrm flipH="1">
            <a:off x="8940026" y="2038187"/>
            <a:ext cx="2620987" cy="2752058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15DEA4-57AC-0679-D2E3-0F4D55B32D6D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rcRect l="864" t="1093" r="11843" b="32135"/>
          <a:stretch>
            <a:fillRect/>
          </a:stretch>
        </p:blipFill>
        <p:spPr>
          <a:xfrm>
            <a:off x="6919249" y="2092447"/>
            <a:ext cx="2620986" cy="2673107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C1056E-1F32-E084-F139-EDF3BC2A23E2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28195" t="22410" r="10983" b="30950"/>
          <a:stretch>
            <a:fillRect/>
          </a:stretch>
        </p:blipFill>
        <p:spPr>
          <a:xfrm flipH="1">
            <a:off x="792035" y="2275065"/>
            <a:ext cx="2459940" cy="2515180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D933B1-BFFD-8035-1410-28EE1E89E2F8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19397" t="39050" r="26562" b="19310"/>
          <a:stretch>
            <a:fillRect/>
          </a:stretch>
        </p:blipFill>
        <p:spPr>
          <a:xfrm flipH="1">
            <a:off x="2824589" y="2275065"/>
            <a:ext cx="2448164" cy="2515180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087339-B43D-4A97-0D73-68C6BBAA207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8097" t="6505" r="13621" b="50000"/>
          <a:stretch>
            <a:fillRect/>
          </a:stretch>
        </p:blipFill>
        <p:spPr>
          <a:xfrm>
            <a:off x="4752838" y="2092447"/>
            <a:ext cx="2686325" cy="2673107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4E513A4-F195-439A-0D58-DFF3159E3058}"/>
              </a:ext>
            </a:extLst>
          </p:cNvPr>
          <p:cNvSpPr txBox="1"/>
          <p:nvPr/>
        </p:nvSpPr>
        <p:spPr>
          <a:xfrm>
            <a:off x="721024" y="1528933"/>
            <a:ext cx="1600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1050" b="1" dirty="0">
                <a:solidFill>
                  <a:srgbClr val="FFFFFF"/>
                </a:solidFill>
                <a:latin typeface="Plus Jakarta Sans"/>
              </a:rPr>
              <a:t>The TEAM</a:t>
            </a:r>
            <a:endParaRPr sz="105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68DFA-28B5-0060-495C-5D9D3FA97EE2}"/>
              </a:ext>
            </a:extLst>
          </p:cNvPr>
          <p:cNvSpPr txBox="1"/>
          <p:nvPr/>
        </p:nvSpPr>
        <p:spPr>
          <a:xfrm>
            <a:off x="1540992" y="4972863"/>
            <a:ext cx="96202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fr-FR" b="1" i="0" u="none" dirty="0">
                <a:solidFill>
                  <a:srgbClr val="064E3B"/>
                </a:solidFill>
                <a:latin typeface="Plus Jakarta Sans"/>
              </a:rPr>
              <a:t>Jeffrey YOKO</a:t>
            </a:r>
            <a:endParaRPr b="1" i="0" u="none" dirty="0">
              <a:solidFill>
                <a:srgbClr val="064E3B"/>
              </a:solidFill>
              <a:latin typeface="Plus Jakarta San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897067-B40C-972C-434E-61D944ED2F46}"/>
              </a:ext>
            </a:extLst>
          </p:cNvPr>
          <p:cNvSpPr txBox="1"/>
          <p:nvPr/>
        </p:nvSpPr>
        <p:spPr>
          <a:xfrm>
            <a:off x="3529466" y="4972863"/>
            <a:ext cx="102908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fr-FR" b="1" i="0" u="none" dirty="0">
                <a:solidFill>
                  <a:srgbClr val="064E3B"/>
                </a:solidFill>
                <a:latin typeface="Plus Jakarta Sans"/>
              </a:rPr>
              <a:t>Lowel KENNE</a:t>
            </a:r>
            <a:endParaRPr b="1" i="0" u="none" dirty="0">
              <a:solidFill>
                <a:srgbClr val="064E3B"/>
              </a:solidFill>
              <a:latin typeface="Plus Jakarta San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77AB51-7A2C-1E21-FF69-353043578289}"/>
              </a:ext>
            </a:extLst>
          </p:cNvPr>
          <p:cNvSpPr txBox="1"/>
          <p:nvPr/>
        </p:nvSpPr>
        <p:spPr>
          <a:xfrm>
            <a:off x="5295900" y="4980780"/>
            <a:ext cx="1600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fr-FR" b="1" i="0" u="none" dirty="0">
                <a:solidFill>
                  <a:srgbClr val="064E3B"/>
                </a:solidFill>
                <a:latin typeface="Plus Jakarta Sans"/>
              </a:rPr>
              <a:t>Junior MABENGUE</a:t>
            </a:r>
            <a:endParaRPr b="1" i="0" u="none" dirty="0">
              <a:solidFill>
                <a:srgbClr val="064E3B"/>
              </a:solidFill>
              <a:latin typeface="Plus Jakarta San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ADEFB5-20A4-96FF-ED8B-5189D482E128}"/>
              </a:ext>
            </a:extLst>
          </p:cNvPr>
          <p:cNvSpPr txBox="1"/>
          <p:nvPr/>
        </p:nvSpPr>
        <p:spPr>
          <a:xfrm>
            <a:off x="7575176" y="4980780"/>
            <a:ext cx="1600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fr-FR" b="1" i="0" u="none" dirty="0">
                <a:solidFill>
                  <a:srgbClr val="064E3B"/>
                </a:solidFill>
                <a:latin typeface="Plus Jakarta Sans"/>
              </a:rPr>
              <a:t>Ulrich</a:t>
            </a:r>
          </a:p>
          <a:p>
            <a:pPr algn="ctr"/>
            <a:r>
              <a:rPr lang="fr-FR" b="1" dirty="0">
                <a:solidFill>
                  <a:srgbClr val="064E3B"/>
                </a:solidFill>
                <a:latin typeface="Plus Jakarta Sans"/>
              </a:rPr>
              <a:t>ETONDE</a:t>
            </a:r>
            <a:endParaRPr b="1" i="0" u="none" dirty="0">
              <a:solidFill>
                <a:srgbClr val="064E3B"/>
              </a:solidFill>
              <a:latin typeface="Plus Jakarta San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1F8471-A2E3-6B56-D124-41C63AF883BA}"/>
              </a:ext>
            </a:extLst>
          </p:cNvPr>
          <p:cNvSpPr txBox="1"/>
          <p:nvPr/>
        </p:nvSpPr>
        <p:spPr>
          <a:xfrm>
            <a:off x="9450419" y="4972863"/>
            <a:ext cx="1600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fr-FR" b="1" i="0" u="none" dirty="0">
                <a:solidFill>
                  <a:srgbClr val="064E3B"/>
                </a:solidFill>
                <a:latin typeface="Plus Jakarta Sans"/>
              </a:rPr>
              <a:t>Christian</a:t>
            </a:r>
          </a:p>
          <a:p>
            <a:pPr algn="ctr"/>
            <a:r>
              <a:rPr lang="fr-FR" b="1" dirty="0">
                <a:solidFill>
                  <a:srgbClr val="064E3B"/>
                </a:solidFill>
                <a:latin typeface="Plus Jakarta Sans"/>
              </a:rPr>
              <a:t>FONAYEN</a:t>
            </a:r>
            <a:endParaRPr b="1" i="0" u="none" dirty="0">
              <a:solidFill>
                <a:srgbClr val="064E3B"/>
              </a:solidFill>
              <a:latin typeface="Plus Jakarta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  <p:bldP spid="25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4;p13" descr="image.png">
            <a:extLst>
              <a:ext uri="{FF2B5EF4-FFF2-40B4-BE49-F238E27FC236}">
                <a16:creationId xmlns:a16="http://schemas.microsoft.com/office/drawing/2014/main" id="{C87F1C8C-697A-74DA-C0CB-91E6BD3A3F95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982985" y="2755701"/>
            <a:ext cx="8226028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 dirty="0">
                <a:solidFill>
                  <a:srgbClr val="064E3B"/>
                </a:solidFill>
                <a:latin typeface="Plus Jakarta Sans"/>
              </a:rPr>
              <a:t>Ask in plain words.</a:t>
            </a:r>
            <a:r>
              <a:rPr dirty="0">
                <a:solidFill>
                  <a:srgbClr val="064E3B"/>
                </a:solidFill>
                <a:latin typeface="Plus Jakarta Sans"/>
              </a:rPr>
              <a:t>
</a:t>
            </a:r>
            <a:r>
              <a:rPr sz="5400" b="1" i="0" u="none" dirty="0">
                <a:solidFill>
                  <a:srgbClr val="064E3B"/>
                </a:solidFill>
                <a:latin typeface="Plus Jakarta Sans"/>
              </a:rPr>
              <a:t>See the </a:t>
            </a:r>
            <a:r>
              <a:rPr sz="5400" b="1" i="0" u="none" dirty="0">
                <a:solidFill>
                  <a:srgbClr val="EA580C"/>
                </a:solidFill>
                <a:latin typeface="Plus Jakarta Sans"/>
              </a:rPr>
              <a:t>evidence</a:t>
            </a:r>
            <a:r>
              <a:rPr lang="fr-FR" sz="5400" b="1" i="0" u="none" dirty="0">
                <a:solidFill>
                  <a:srgbClr val="EA580C"/>
                </a:solidFill>
                <a:latin typeface="Plus Jakarta Sans"/>
              </a:rPr>
              <a:t>.</a:t>
            </a:r>
            <a:r>
              <a:rPr sz="5400" b="1" i="0" u="none" dirty="0">
                <a:solidFill>
                  <a:srgbClr val="10B981"/>
                </a:solidFill>
                <a:latin typeface="Pluckypot Free" pitchFamily="2" charset="0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4569023"/>
            <a:ext cx="7143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0A0A0A"/>
                </a:solidFill>
                <a:latin typeface="Coco Gothic" panose="02000506000000020004" pitchFamily="2" charset="0"/>
              </a:rPr>
              <a:t>Turn business questions into data-backed answers you can verify</a:t>
            </a:r>
            <a:r>
              <a:rPr sz="1800" b="0" i="0" u="none" dirty="0">
                <a:solidFill>
                  <a:srgbClr val="A7F3D0"/>
                </a:solidFill>
                <a:latin typeface="Coco Gothic" panose="02000506000000020004" pitchFamily="2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43812" y="1717476"/>
            <a:ext cx="142827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i="0" u="none" dirty="0" err="1">
                <a:solidFill>
                  <a:srgbClr val="064E3B"/>
                </a:solidFill>
                <a:latin typeface="Plus Jakarta Sans"/>
              </a:rPr>
              <a:t>Aura</a:t>
            </a:r>
            <a:r>
              <a:rPr sz="3600" b="1" i="0" u="none" dirty="0" err="1">
                <a:solidFill>
                  <a:srgbClr val="EA580C"/>
                </a:solidFill>
                <a:latin typeface="Plus Jakarta Sans"/>
              </a:rPr>
              <a:t>BI</a:t>
            </a:r>
            <a:endParaRPr sz="3600" b="1" i="0" u="none" dirty="0">
              <a:solidFill>
                <a:srgbClr val="EA580C"/>
              </a:solidFill>
              <a:latin typeface="Plus Jakarta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81819-56D5-C221-7463-DCE8AEDC45B0}"/>
              </a:ext>
            </a:extLst>
          </p:cNvPr>
          <p:cNvSpPr/>
          <p:nvPr/>
        </p:nvSpPr>
        <p:spPr>
          <a:xfrm>
            <a:off x="5791199" y="4341527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30DC8F-8BA9-2029-C36B-7D1566E09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640" y="1620402"/>
            <a:ext cx="833975" cy="714301"/>
          </a:xfrm>
          <a:prstGeom prst="rect">
            <a:avLst/>
          </a:prstGeom>
        </p:spPr>
      </p:pic>
      <p:pic>
        <p:nvPicPr>
          <p:cNvPr id="10" name="Google Shape;85;p13" descr="image.png">
            <a:extLst>
              <a:ext uri="{FF2B5EF4-FFF2-40B4-BE49-F238E27FC236}">
                <a16:creationId xmlns:a16="http://schemas.microsoft.com/office/drawing/2014/main" id="{5D9A57DA-4884-E142-8C5C-1D85EBA7C49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7346" y="-1055158"/>
            <a:ext cx="3333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403</Words>
  <Application>Microsoft Office PowerPoint</Application>
  <PresentationFormat>Widescreen</PresentationFormat>
  <Paragraphs>95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Coco Gothic</vt:lpstr>
      <vt:lpstr>Calibri</vt:lpstr>
      <vt:lpstr>Plus Jakarta Sans</vt:lpstr>
      <vt:lpstr>Pluckypot Free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Ulrich ETONDE</dc:creator>
  <cp:keywords/>
  <dc:description>generated using python-pptx</dc:description>
  <cp:lastModifiedBy>Ulrich ETONDE</cp:lastModifiedBy>
  <cp:revision>7</cp:revision>
  <dcterms:created xsi:type="dcterms:W3CDTF">2013-01-27T09:14:16Z</dcterms:created>
  <dcterms:modified xsi:type="dcterms:W3CDTF">2026-10-26T20:02:24Z</dcterms:modified>
  <cp:category/>
</cp:coreProperties>
</file>